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Corbel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ofia Va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orbel-bold.fntdata"/><Relationship Id="rId30" Type="http://schemas.openxmlformats.org/officeDocument/2006/relationships/font" Target="fonts/Corbel-regular.fntdata"/><Relationship Id="rId11" Type="http://schemas.openxmlformats.org/officeDocument/2006/relationships/slide" Target="slides/slide5.xml"/><Relationship Id="rId33" Type="http://schemas.openxmlformats.org/officeDocument/2006/relationships/font" Target="fonts/Corbel-boldItalic.fntdata"/><Relationship Id="rId10" Type="http://schemas.openxmlformats.org/officeDocument/2006/relationships/slide" Target="slides/slide4.xml"/><Relationship Id="rId32" Type="http://schemas.openxmlformats.org/officeDocument/2006/relationships/font" Target="fonts/Corbel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8-04T10:53:58.557">
    <p:pos x="6000" y="0"/>
    <p:text>tenho de tornar claro neste slide que o cluster tem cada nó e cada nó é o nosso host, sendo o resto a infra necessária para algo típico em edge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2d000135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2d000135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a282d434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7a282d434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a282d434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a282d434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a282d434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a282d434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2d000135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2d000135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a282d4346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7a282d434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a282d434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7a282d434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2d000135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72d000135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2d000135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2d000135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a282d434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a282d434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um dos ataques t</a:t>
            </a:r>
            <a:r>
              <a:rPr lang="pt-PT"/>
              <a:t>ípicos começa com tentativas básicas para verificação de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7a282d4346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7a282d434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72d000135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72d000135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a282d434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7a282d434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7a282d434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7a282d434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7a282d4346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7a282d4346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a282d4346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a282d4346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7a282d4346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7a282d4346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7a282d4346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7a282d4346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7a282d4346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7a282d4346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2d000135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72d000135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2d0001354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72d0001354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2d0001354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72d0001354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.png"/><Relationship Id="rId11" Type="http://schemas.openxmlformats.org/officeDocument/2006/relationships/image" Target="../media/image2.png"/><Relationship Id="rId10" Type="http://schemas.openxmlformats.org/officeDocument/2006/relationships/image" Target="../media/image10.png"/><Relationship Id="rId21" Type="http://schemas.openxmlformats.org/officeDocument/2006/relationships/image" Target="../media/image17.png"/><Relationship Id="rId13" Type="http://schemas.openxmlformats.org/officeDocument/2006/relationships/image" Target="../media/image9.png"/><Relationship Id="rId1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9" Type="http://schemas.openxmlformats.org/officeDocument/2006/relationships/image" Target="../media/image50.png"/><Relationship Id="rId15" Type="http://schemas.openxmlformats.org/officeDocument/2006/relationships/image" Target="../media/image8.png"/><Relationship Id="rId14" Type="http://schemas.openxmlformats.org/officeDocument/2006/relationships/image" Target="../media/image14.png"/><Relationship Id="rId17" Type="http://schemas.openxmlformats.org/officeDocument/2006/relationships/image" Target="../media/image19.png"/><Relationship Id="rId16" Type="http://schemas.openxmlformats.org/officeDocument/2006/relationships/image" Target="../media/image7.png"/><Relationship Id="rId5" Type="http://schemas.openxmlformats.org/officeDocument/2006/relationships/image" Target="../media/image5.png"/><Relationship Id="rId19" Type="http://schemas.openxmlformats.org/officeDocument/2006/relationships/image" Target="../media/image53.png"/><Relationship Id="rId6" Type="http://schemas.openxmlformats.org/officeDocument/2006/relationships/image" Target="../media/image16.png"/><Relationship Id="rId18" Type="http://schemas.openxmlformats.org/officeDocument/2006/relationships/image" Target="../media/image23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Relationship Id="rId3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orbel"/>
              <a:buNone/>
              <a:defRPr b="1"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572000" y="4754312"/>
            <a:ext cx="380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85729" y="4754312"/>
            <a:ext cx="33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to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rbel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4572000" y="4754312"/>
            <a:ext cx="380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585729" y="4754312"/>
            <a:ext cx="33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623888" y="1282305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orbel"/>
              <a:buNone/>
              <a:defRPr b="1"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23888" y="3442099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572000" y="4754312"/>
            <a:ext cx="380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585729" y="4754312"/>
            <a:ext cx="33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rbel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572000" y="4754312"/>
            <a:ext cx="380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585729" y="4754312"/>
            <a:ext cx="33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629841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rbel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3" type="body"/>
          </p:nvPr>
        </p:nvSpPr>
        <p:spPr>
          <a:xfrm>
            <a:off x="4629151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0" name="Google Shape;40;p6"/>
          <p:cNvSpPr txBox="1"/>
          <p:nvPr>
            <p:ph idx="4" type="body"/>
          </p:nvPr>
        </p:nvSpPr>
        <p:spPr>
          <a:xfrm>
            <a:off x="4629151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4572000" y="4754312"/>
            <a:ext cx="380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585729" y="4754312"/>
            <a:ext cx="33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rbel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4572000" y="4754312"/>
            <a:ext cx="380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8585729" y="4754312"/>
            <a:ext cx="33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572000" y="4754312"/>
            <a:ext cx="380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585729" y="4754312"/>
            <a:ext cx="33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4572000" y="4754312"/>
            <a:ext cx="380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585729" y="4754312"/>
            <a:ext cx="33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0"/>
          <p:cNvSpPr/>
          <p:nvPr>
            <p:ph idx="2" type="pic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4572000" y="4754312"/>
            <a:ext cx="380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585729" y="4754312"/>
            <a:ext cx="33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rbel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1" type="ftr"/>
          </p:nvPr>
        </p:nvSpPr>
        <p:spPr>
          <a:xfrm>
            <a:off x="4572000" y="4754312"/>
            <a:ext cx="380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8585729" y="4754312"/>
            <a:ext cx="33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 rot="5400000">
            <a:off x="5350051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rbel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 rot="5400000">
            <a:off x="1349476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572000" y="4754312"/>
            <a:ext cx="380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585729" y="4754312"/>
            <a:ext cx="33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rtners">
  <p:cSld name="Partner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/>
        </p:nvSpPr>
        <p:spPr>
          <a:xfrm>
            <a:off x="1563975" y="4110743"/>
            <a:ext cx="71646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This project has received funding from the European Union's Horizon 2020 research and innovation programme under grant agreement No 856709.</a:t>
            </a:r>
            <a:endParaRPr sz="1100"/>
          </a:p>
        </p:txBody>
      </p:sp>
      <p:pic>
        <p:nvPicPr>
          <p:cNvPr descr="https://europa.eu/european-union/sites/europaeu/files/docs/body/flag_yellow_high.jpg" id="74" name="Google Shape;7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9341" y="4181758"/>
            <a:ext cx="556629" cy="371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5" name="Google Shape;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4732" y="1500748"/>
            <a:ext cx="524184" cy="5241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automatically generated" id="76" name="Google Shape;7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4920" y="3060202"/>
            <a:ext cx="647990" cy="1788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automatically generated" id="77" name="Google Shape;7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98309" y="2444508"/>
            <a:ext cx="738196" cy="196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automatically generated" id="78" name="Google Shape;7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8419" y="1507927"/>
            <a:ext cx="452830" cy="640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58929" y="2252348"/>
            <a:ext cx="745897" cy="52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51996" y="3032548"/>
            <a:ext cx="948070" cy="2458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object&#10;&#10;Description automatically generated" id="81" name="Google Shape;8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66482" y="3516610"/>
            <a:ext cx="647995" cy="23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88128" y="1481737"/>
            <a:ext cx="553314" cy="6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automatically generated" id="83" name="Google Shape;83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90477" y="2383235"/>
            <a:ext cx="1303051" cy="2657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automatically generated" id="84" name="Google Shape;84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01593" y="3083429"/>
            <a:ext cx="996044" cy="1867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automatically generated" id="85" name="Google Shape;85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30338" y="3018055"/>
            <a:ext cx="1003079" cy="245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303771" y="2346734"/>
            <a:ext cx="686105" cy="393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lipart&#10;&#10;Description automatically generated" id="87" name="Google Shape;87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362146" y="3567419"/>
            <a:ext cx="505374" cy="137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automatically generated" id="88" name="Google Shape;88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469786" y="1507927"/>
            <a:ext cx="524184" cy="524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373432" y="3532497"/>
            <a:ext cx="831968" cy="137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automatically generated" id="90" name="Google Shape;90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488323" y="1508134"/>
            <a:ext cx="524962" cy="6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205400" y="2384353"/>
            <a:ext cx="1189300" cy="31703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1" type="ftr"/>
          </p:nvPr>
        </p:nvSpPr>
        <p:spPr>
          <a:xfrm>
            <a:off x="4572000" y="4754312"/>
            <a:ext cx="380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8585729" y="4754312"/>
            <a:ext cx="33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299678" y="1539570"/>
            <a:ext cx="538986" cy="47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252518" y="2996168"/>
            <a:ext cx="1336150" cy="30691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/>
          <p:nvPr/>
        </p:nvSpPr>
        <p:spPr>
          <a:xfrm>
            <a:off x="5309202" y="241353"/>
            <a:ext cx="2718000" cy="82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0"/>
            <a:ext cx="9144000" cy="938100"/>
          </a:xfrm>
          <a:prstGeom prst="rect">
            <a:avLst/>
          </a:prstGeom>
          <a:solidFill>
            <a:srgbClr val="0F2B30"/>
          </a:solidFill>
          <a:ln cap="flat" cmpd="sng" w="9525">
            <a:solidFill>
              <a:srgbClr val="3B0D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0" y="4721773"/>
            <a:ext cx="9144000" cy="421800"/>
          </a:xfrm>
          <a:prstGeom prst="rect">
            <a:avLst/>
          </a:prstGeom>
          <a:solidFill>
            <a:srgbClr val="0F2B30"/>
          </a:solidFill>
          <a:ln cap="flat" cmpd="sng" w="9525">
            <a:solidFill>
              <a:srgbClr val="3B0D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6978212" y="481131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E7E7D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descr="A group of boats in the water&#10;&#10;Description automatically generated" id="101" name="Google Shape;101;p14"/>
          <p:cNvPicPr preferRelativeResize="0"/>
          <p:nvPr/>
        </p:nvPicPr>
        <p:blipFill rotWithShape="1">
          <a:blip r:embed="rId2">
            <a:alphaModFix/>
          </a:blip>
          <a:srcRect b="0" l="37105" r="33908" t="83689"/>
          <a:stretch/>
        </p:blipFill>
        <p:spPr>
          <a:xfrm>
            <a:off x="6621518" y="0"/>
            <a:ext cx="2522482" cy="938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>
            <p:ph idx="1" type="body"/>
          </p:nvPr>
        </p:nvSpPr>
        <p:spPr>
          <a:xfrm>
            <a:off x="628649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F2B30"/>
              </a:buClr>
              <a:buSzPts val="2100"/>
              <a:buChar char="•"/>
              <a:defRPr b="1">
                <a:solidFill>
                  <a:srgbClr val="0F2B3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F2B30"/>
              </a:buClr>
              <a:buSzPts val="1800"/>
              <a:buChar char="•"/>
              <a:defRPr>
                <a:solidFill>
                  <a:srgbClr val="0F2B3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F2B30"/>
              </a:buClr>
              <a:buSzPts val="1500"/>
              <a:buChar char="•"/>
              <a:defRPr>
                <a:solidFill>
                  <a:srgbClr val="0F2B3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F2B30"/>
              </a:buClr>
              <a:buSzPts val="1400"/>
              <a:buChar char="•"/>
              <a:defRPr>
                <a:solidFill>
                  <a:srgbClr val="0F2B3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F2B30"/>
              </a:buClr>
              <a:buSzPts val="1400"/>
              <a:buChar char="•"/>
              <a:defRPr>
                <a:solidFill>
                  <a:srgbClr val="0F2B3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628650" y="915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B32F"/>
              </a:buClr>
              <a:buSzPts val="2700"/>
              <a:buFont typeface="Arial"/>
              <a:buNone/>
              <a:defRPr>
                <a:solidFill>
                  <a:srgbClr val="EEB32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4"/>
          <p:cNvSpPr/>
          <p:nvPr/>
        </p:nvSpPr>
        <p:spPr>
          <a:xfrm>
            <a:off x="71678" y="-356745"/>
            <a:ext cx="556193" cy="1127316"/>
          </a:xfrm>
          <a:custGeom>
            <a:rect b="b" l="l" r="r" t="t"/>
            <a:pathLst>
              <a:path extrusionOk="0" h="1747777" w="862314">
                <a:moveTo>
                  <a:pt x="862314" y="451413"/>
                </a:moveTo>
                <a:lnTo>
                  <a:pt x="862314" y="1747777"/>
                </a:lnTo>
                <a:lnTo>
                  <a:pt x="0" y="1331089"/>
                </a:lnTo>
                <a:lnTo>
                  <a:pt x="0" y="0"/>
                </a:lnTo>
                <a:lnTo>
                  <a:pt x="57873" y="133109"/>
                </a:lnTo>
                <a:lnTo>
                  <a:pt x="52086" y="1232704"/>
                </a:lnTo>
                <a:lnTo>
                  <a:pt x="792866" y="897038"/>
                </a:lnTo>
                <a:lnTo>
                  <a:pt x="798653" y="393539"/>
                </a:lnTo>
                <a:lnTo>
                  <a:pt x="862314" y="451413"/>
                </a:lnTo>
                <a:close/>
              </a:path>
            </a:pathLst>
          </a:custGeom>
          <a:solidFill>
            <a:srgbClr val="E5E5D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49" y="4811314"/>
            <a:ext cx="3342831" cy="242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2072" y="4775396"/>
            <a:ext cx="3077054" cy="310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25.png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256374" y="4754312"/>
            <a:ext cx="1371600" cy="273900"/>
          </a:xfrm>
          <a:prstGeom prst="rect">
            <a:avLst/>
          </a:prstGeom>
          <a:solidFill>
            <a:schemeClr val="lt1">
              <a:alpha val="87843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rbel"/>
              <a:buNone/>
              <a:defRPr b="1" i="0" sz="3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572000" y="4754312"/>
            <a:ext cx="380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AAAAA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585729" y="4754312"/>
            <a:ext cx="33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152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15289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15289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15289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15289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15289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15289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15289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15289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49333" y="4580945"/>
            <a:ext cx="1218167" cy="577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6020" y="4769231"/>
            <a:ext cx="1324608" cy="244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/>
          <p:cNvPicPr preferRelativeResize="0"/>
          <p:nvPr/>
        </p:nvPicPr>
        <p:blipFill>
          <a:blip r:embed="rId4">
            <a:alphaModFix amt="58999"/>
          </a:blip>
          <a:stretch>
            <a:fillRect/>
          </a:stretch>
        </p:blipFill>
        <p:spPr>
          <a:xfrm>
            <a:off x="2617900" y="4632635"/>
            <a:ext cx="1218175" cy="43621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5"/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38.png"/><Relationship Id="rId7" Type="http://schemas.openxmlformats.org/officeDocument/2006/relationships/image" Target="../media/image32.png"/><Relationship Id="rId8" Type="http://schemas.openxmlformats.org/officeDocument/2006/relationships/image" Target="../media/image3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1.xml"/><Relationship Id="rId4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jpg"/><Relationship Id="rId4" Type="http://schemas.openxmlformats.org/officeDocument/2006/relationships/image" Target="../media/image5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Observing the Edge: Host Behavior as a Foundation for Workflow Security</a:t>
            </a:r>
            <a:endParaRPr/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Sofia Vaz, V</a:t>
            </a:r>
            <a:r>
              <a:rPr lang="pt-PT"/>
              <a:t>ítor A. Cunha, Rui L. Aguiar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Why monitor hosts at the edge?</a:t>
            </a:r>
            <a:endParaRPr/>
          </a:p>
        </p:txBody>
      </p:sp>
      <p:sp>
        <p:nvSpPr>
          <p:cNvPr id="118" name="Google Shape;118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Edge computing – decentralized, high performance environments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600" y="2338675"/>
            <a:ext cx="4366674" cy="261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Why monitor hosts at the edge?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Edge computing – decentralized, high performance environments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Workflows run there -&gt; increased complexity and heterogeneity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4325" y="3907725"/>
            <a:ext cx="1737725" cy="106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1475" y="3825075"/>
            <a:ext cx="1737725" cy="106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325" y="3825075"/>
            <a:ext cx="1737725" cy="106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1700" y="2697663"/>
            <a:ext cx="949525" cy="94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91223" y="3647200"/>
            <a:ext cx="858525" cy="87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4423" y="3581875"/>
            <a:ext cx="858525" cy="87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5325" y="3825075"/>
            <a:ext cx="1737725" cy="106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7500" y="2920288"/>
            <a:ext cx="949525" cy="94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976832">
            <a:off x="1975174" y="4248327"/>
            <a:ext cx="858525" cy="87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Why monitor hosts at the edge?</a:t>
            </a:r>
            <a:endParaRPr/>
          </a:p>
        </p:txBody>
      </p:sp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Edge computing – decentralized, high performance environments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Workflows run there -&gt; increased complexity and heterogeneity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Security challenge: limited visibility, trust, and control over edge nodes</a:t>
            </a:r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1175" y="3496725"/>
            <a:ext cx="2727775" cy="13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9525" y="3557825"/>
            <a:ext cx="2727775" cy="13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25" y="3640000"/>
            <a:ext cx="2727775" cy="1363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18"/>
          <p:cNvCxnSpPr/>
          <p:nvPr/>
        </p:nvCxnSpPr>
        <p:spPr>
          <a:xfrm rot="10800000">
            <a:off x="2577525" y="4544025"/>
            <a:ext cx="11517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18"/>
          <p:cNvCxnSpPr/>
          <p:nvPr/>
        </p:nvCxnSpPr>
        <p:spPr>
          <a:xfrm flipH="1">
            <a:off x="5562225" y="4663300"/>
            <a:ext cx="1453800" cy="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18"/>
          <p:cNvCxnSpPr/>
          <p:nvPr/>
        </p:nvCxnSpPr>
        <p:spPr>
          <a:xfrm>
            <a:off x="5190025" y="3687100"/>
            <a:ext cx="19806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8"/>
          <p:cNvCxnSpPr/>
          <p:nvPr/>
        </p:nvCxnSpPr>
        <p:spPr>
          <a:xfrm>
            <a:off x="2247373" y="3715184"/>
            <a:ext cx="19032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8" name="Google Shape;14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250" y="3894525"/>
            <a:ext cx="976225" cy="10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3130" y="3922627"/>
            <a:ext cx="902295" cy="10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82575" y="3935434"/>
            <a:ext cx="902300" cy="99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29963" y="3557813"/>
            <a:ext cx="737563" cy="737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65200" y="3618850"/>
            <a:ext cx="615500" cy="6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11811" y="4544025"/>
            <a:ext cx="510875" cy="51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39561" y="4591075"/>
            <a:ext cx="510875" cy="51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Why monitor hosts at the edge?</a:t>
            </a:r>
            <a:endParaRPr/>
          </a:p>
        </p:txBody>
      </p:sp>
      <p:sp>
        <p:nvSpPr>
          <p:cNvPr id="160" name="Google Shape;160;p1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Edge computing – decentralized, high performance environments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Workflows run there -&gt; increased complexity and heterogeneity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Security challenge: limited visibility, trust, and control over edge nodes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Goal: secure workflow execution by observing host behavior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What’s missing?</a:t>
            </a:r>
            <a:endParaRPr/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Cloud based monitoring does not meet edge-specific needs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348" y="2101100"/>
            <a:ext cx="3451150" cy="228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/>
          <p:nvPr/>
        </p:nvSpPr>
        <p:spPr>
          <a:xfrm>
            <a:off x="3508700" y="2571750"/>
            <a:ext cx="2352600" cy="1348500"/>
          </a:xfrm>
          <a:prstGeom prst="mathNotEqual">
            <a:avLst>
              <a:gd fmla="val 23520" name="adj1"/>
              <a:gd fmla="val 6600000" name="adj2"/>
              <a:gd fmla="val 11760" name="adj3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7800" y="2101100"/>
            <a:ext cx="3279775" cy="240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What’s missing?</a:t>
            </a:r>
            <a:endParaRPr/>
          </a:p>
        </p:txBody>
      </p:sp>
      <p:sp>
        <p:nvSpPr>
          <p:cNvPr id="175" name="Google Shape;175;p2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Cloud based monitoring does not meet edge-specific needs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Resource metrics are not sufficient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1"/>
          <p:cNvPicPr preferRelativeResize="0"/>
          <p:nvPr/>
        </p:nvPicPr>
        <p:blipFill rotWithShape="1">
          <a:blip r:embed="rId3">
            <a:alphaModFix/>
          </a:blip>
          <a:srcRect b="10807" l="10670" r="10172" t="12276"/>
          <a:stretch/>
        </p:blipFill>
        <p:spPr>
          <a:xfrm>
            <a:off x="4572000" y="1742600"/>
            <a:ext cx="4462175" cy="28900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/>
          <p:nvPr/>
        </p:nvSpPr>
        <p:spPr>
          <a:xfrm>
            <a:off x="7960725" y="2989150"/>
            <a:ext cx="325200" cy="309900"/>
          </a:xfrm>
          <a:prstGeom prst="ellipse">
            <a:avLst/>
          </a:prstGeom>
          <a:solidFill>
            <a:srgbClr val="9FC5E8">
              <a:alpha val="5264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8570025" y="3071850"/>
            <a:ext cx="325200" cy="309900"/>
          </a:xfrm>
          <a:prstGeom prst="ellipse">
            <a:avLst/>
          </a:prstGeom>
          <a:solidFill>
            <a:srgbClr val="9FC5E8">
              <a:alpha val="5264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7351425" y="3032663"/>
            <a:ext cx="325200" cy="309900"/>
          </a:xfrm>
          <a:prstGeom prst="ellipse">
            <a:avLst/>
          </a:prstGeom>
          <a:solidFill>
            <a:srgbClr val="9FC5E8">
              <a:alpha val="5264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80" name="Google Shape;18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2875" y="3554375"/>
            <a:ext cx="1078249" cy="107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What’s missing?</a:t>
            </a:r>
            <a:endParaRPr/>
          </a:p>
        </p:txBody>
      </p:sp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Cloud based monitoring does not meet edge-specific needs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Resource metrics are not sufficient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Existing tools lack direct behavioral security monitoring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Need for lightweight, rule-based, host-centric approach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 Modular Host Monitoring System</a:t>
            </a:r>
            <a:endParaRPr/>
          </a:p>
        </p:txBody>
      </p:sp>
      <p:sp>
        <p:nvSpPr>
          <p:cNvPr id="192" name="Google Shape;192;p2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628650" y="1479625"/>
            <a:ext cx="73533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1950" lIns="63925" spcFirstLastPara="1" rIns="63925" wrap="square" tIns="319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769">
                <a:solidFill>
                  <a:srgbClr val="0F2B30"/>
                </a:solidFill>
              </a:rPr>
              <a:t>*</a:t>
            </a:r>
            <a:endParaRPr b="1" sz="769">
              <a:solidFill>
                <a:srgbClr val="0F2B3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699"/>
              </a:spcBef>
              <a:spcAft>
                <a:spcPts val="0"/>
              </a:spcAft>
              <a:buNone/>
            </a:pPr>
            <a:r>
              <a:t/>
            </a:r>
            <a:endParaRPr b="1" sz="1958">
              <a:solidFill>
                <a:srgbClr val="0F2B30"/>
              </a:solidFill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5763715" y="3903264"/>
            <a:ext cx="11670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50" lIns="85250" spcFirstLastPara="1" rIns="85250" wrap="square" tIns="8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99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cluster</a:t>
            </a:r>
            <a:endParaRPr sz="1399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95" name="Google Shape;19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50" y="1479627"/>
            <a:ext cx="7353271" cy="227768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 txBox="1"/>
          <p:nvPr/>
        </p:nvSpPr>
        <p:spPr>
          <a:xfrm>
            <a:off x="932043" y="3339160"/>
            <a:ext cx="11670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50" lIns="85250" spcFirstLastPara="1" rIns="85250" wrap="square" tIns="8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99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orchestrator</a:t>
            </a:r>
            <a:endParaRPr sz="1399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97" name="Google Shape;197;p23"/>
          <p:cNvCxnSpPr/>
          <p:nvPr/>
        </p:nvCxnSpPr>
        <p:spPr>
          <a:xfrm flipH="1" rot="10800000">
            <a:off x="1559153" y="2892879"/>
            <a:ext cx="12600" cy="555600"/>
          </a:xfrm>
          <a:prstGeom prst="straightConnector1">
            <a:avLst/>
          </a:prstGeom>
          <a:noFill/>
          <a:ln cap="flat" cmpd="sng" w="6650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3"/>
          <p:cNvCxnSpPr/>
          <p:nvPr/>
        </p:nvCxnSpPr>
        <p:spPr>
          <a:xfrm flipH="1" rot="10800000">
            <a:off x="6408604" y="3760410"/>
            <a:ext cx="268500" cy="299700"/>
          </a:xfrm>
          <a:prstGeom prst="straightConnector1">
            <a:avLst/>
          </a:prstGeom>
          <a:noFill/>
          <a:ln cap="flat" cmpd="sng" w="6650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" name="Google Shape;199;p23"/>
          <p:cNvSpPr txBox="1"/>
          <p:nvPr/>
        </p:nvSpPr>
        <p:spPr>
          <a:xfrm>
            <a:off x="1559153" y="2119069"/>
            <a:ext cx="26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50" lIns="85250" spcFirstLastPara="1" rIns="85250" wrap="square" tIns="8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69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*</a:t>
            </a:r>
            <a:endParaRPr sz="769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2098993" y="2435956"/>
            <a:ext cx="26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50" lIns="85250" spcFirstLastPara="1" rIns="85250" wrap="square" tIns="8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69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*</a:t>
            </a:r>
            <a:endParaRPr sz="769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4928331" y="2234752"/>
            <a:ext cx="26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50" lIns="85250" spcFirstLastPara="1" rIns="85250" wrap="square" tIns="8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69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*</a:t>
            </a:r>
            <a:endParaRPr sz="769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7030213" y="1530934"/>
            <a:ext cx="26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50" lIns="85250" spcFirstLastPara="1" rIns="85250" wrap="square" tIns="8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69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*</a:t>
            </a:r>
            <a:endParaRPr sz="769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3643973" y="3281421"/>
            <a:ext cx="26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50" lIns="85250" spcFirstLastPara="1" rIns="85250" wrap="square" tIns="8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69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*</a:t>
            </a:r>
            <a:endParaRPr sz="769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3808372" y="3339146"/>
            <a:ext cx="14265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50" lIns="85250" spcFirstLastPara="1" rIns="85250" wrap="square" tIns="8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99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security stack</a:t>
            </a:r>
            <a:endParaRPr sz="1399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Dangerous Behavior Detection</a:t>
            </a:r>
            <a:endParaRPr/>
          </a:p>
        </p:txBody>
      </p:sp>
      <p:sp>
        <p:nvSpPr>
          <p:cNvPr id="210" name="Google Shape;210;p2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369221"/>
            <a:ext cx="7886700" cy="2442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5175" y="1645875"/>
            <a:ext cx="370800" cy="37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5175" y="3265650"/>
            <a:ext cx="370800" cy="37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4"/>
          <p:cNvSpPr/>
          <p:nvPr/>
        </p:nvSpPr>
        <p:spPr>
          <a:xfrm flipH="1">
            <a:off x="7885186" y="2896127"/>
            <a:ext cx="262710" cy="286254"/>
          </a:xfrm>
          <a:prstGeom prst="lightningBolt">
            <a:avLst/>
          </a:prstGeom>
          <a:solidFill>
            <a:srgbClr val="E06666"/>
          </a:solidFill>
          <a:ln cap="flat" cmpd="sng" w="71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7002987" y="3589077"/>
            <a:ext cx="502800" cy="445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log</a:t>
            </a:r>
            <a:endParaRPr sz="15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216" name="Google Shape;216;p24"/>
          <p:cNvCxnSpPr/>
          <p:nvPr/>
        </p:nvCxnSpPr>
        <p:spPr>
          <a:xfrm flipH="1">
            <a:off x="7514550" y="3636300"/>
            <a:ext cx="370500" cy="55200"/>
          </a:xfrm>
          <a:prstGeom prst="straightConnector1">
            <a:avLst/>
          </a:prstGeom>
          <a:noFill/>
          <a:ln cap="flat" cmpd="sng" w="7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24"/>
          <p:cNvSpPr txBox="1"/>
          <p:nvPr/>
        </p:nvSpPr>
        <p:spPr>
          <a:xfrm>
            <a:off x="4900287" y="3080302"/>
            <a:ext cx="502800" cy="445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log</a:t>
            </a:r>
            <a:endParaRPr sz="15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4572006" y="3472350"/>
            <a:ext cx="12801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(exposed)</a:t>
            </a:r>
            <a:endParaRPr sz="15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2517700" y="2340050"/>
            <a:ext cx="1011600" cy="370800"/>
          </a:xfrm>
          <a:prstGeom prst="ellipse">
            <a:avLst/>
          </a:prstGeom>
          <a:noFill/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1915387" y="2710852"/>
            <a:ext cx="502800" cy="445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log</a:t>
            </a:r>
            <a:endParaRPr sz="15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1" name="Google Shape;221;p24"/>
          <p:cNvSpPr txBox="1"/>
          <p:nvPr>
            <p:ph idx="12" type="sldNum"/>
          </p:nvPr>
        </p:nvSpPr>
        <p:spPr>
          <a:xfrm>
            <a:off x="8585729" y="4754312"/>
            <a:ext cx="335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 sz="900">
                <a:solidFill>
                  <a:srgbClr val="015289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900">
              <a:solidFill>
                <a:srgbClr val="01528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Use Case #1 – Initial Steps</a:t>
            </a:r>
            <a:endParaRPr/>
          </a:p>
        </p:txBody>
      </p:sp>
      <p:sp>
        <p:nvSpPr>
          <p:cNvPr id="227" name="Google Shape;227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63" y="1402700"/>
            <a:ext cx="8753476" cy="276480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5"/>
          <p:cNvSpPr txBox="1"/>
          <p:nvPr/>
        </p:nvSpPr>
        <p:spPr>
          <a:xfrm>
            <a:off x="235938" y="1442875"/>
            <a:ext cx="3166200" cy="250800"/>
          </a:xfrm>
          <a:prstGeom prst="rect">
            <a:avLst/>
          </a:prstGeom>
          <a:solidFill>
            <a:srgbClr val="9FC5E8">
              <a:alpha val="5264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1633325" y="3036025"/>
            <a:ext cx="2208900" cy="250800"/>
          </a:xfrm>
          <a:prstGeom prst="rect">
            <a:avLst/>
          </a:prstGeom>
          <a:solidFill>
            <a:srgbClr val="9FC5E8">
              <a:alpha val="5264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4269200" y="2785225"/>
            <a:ext cx="4044900" cy="250800"/>
          </a:xfrm>
          <a:prstGeom prst="rect">
            <a:avLst/>
          </a:prstGeom>
          <a:solidFill>
            <a:srgbClr val="9FC5E8">
              <a:alpha val="5264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6075000" y="2320950"/>
            <a:ext cx="2873700" cy="250800"/>
          </a:xfrm>
          <a:prstGeom prst="rect">
            <a:avLst/>
          </a:prstGeom>
          <a:solidFill>
            <a:srgbClr val="9FC5E8">
              <a:alpha val="5264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3" name="Google Shape;233;p25"/>
          <p:cNvSpPr txBox="1"/>
          <p:nvPr/>
        </p:nvSpPr>
        <p:spPr>
          <a:xfrm>
            <a:off x="195275" y="2571750"/>
            <a:ext cx="1063200" cy="250800"/>
          </a:xfrm>
          <a:prstGeom prst="rect">
            <a:avLst/>
          </a:prstGeom>
          <a:solidFill>
            <a:srgbClr val="9FC5E8">
              <a:alpha val="5264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3958125" y="3497525"/>
            <a:ext cx="3411900" cy="250800"/>
          </a:xfrm>
          <a:prstGeom prst="rect">
            <a:avLst/>
          </a:prstGeom>
          <a:solidFill>
            <a:srgbClr val="9FC5E8">
              <a:alpha val="5264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5" name="Google Shape;235;p25"/>
          <p:cNvSpPr txBox="1"/>
          <p:nvPr>
            <p:ph idx="12" type="sldNum"/>
          </p:nvPr>
        </p:nvSpPr>
        <p:spPr>
          <a:xfrm>
            <a:off x="8585729" y="4754312"/>
            <a:ext cx="335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 sz="900">
                <a:solidFill>
                  <a:srgbClr val="015289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900">
              <a:solidFill>
                <a:srgbClr val="01528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Use Case #2 – Exploitation </a:t>
            </a:r>
            <a:endParaRPr/>
          </a:p>
        </p:txBody>
      </p:sp>
      <p:pic>
        <p:nvPicPr>
          <p:cNvPr id="241" name="Google Shape;2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13" y="1806775"/>
            <a:ext cx="9037174" cy="162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 txBox="1"/>
          <p:nvPr/>
        </p:nvSpPr>
        <p:spPr>
          <a:xfrm>
            <a:off x="2073900" y="1806775"/>
            <a:ext cx="5227200" cy="204000"/>
          </a:xfrm>
          <a:prstGeom prst="rect">
            <a:avLst/>
          </a:prstGeom>
          <a:solidFill>
            <a:srgbClr val="9FC5E8">
              <a:alpha val="5264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3" name="Google Shape;243;p26"/>
          <p:cNvSpPr txBox="1"/>
          <p:nvPr/>
        </p:nvSpPr>
        <p:spPr>
          <a:xfrm>
            <a:off x="1544950" y="3231050"/>
            <a:ext cx="2529900" cy="204000"/>
          </a:xfrm>
          <a:prstGeom prst="rect">
            <a:avLst/>
          </a:prstGeom>
          <a:solidFill>
            <a:srgbClr val="9FC5E8">
              <a:alpha val="5264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4" name="Google Shape;244;p26"/>
          <p:cNvSpPr txBox="1"/>
          <p:nvPr/>
        </p:nvSpPr>
        <p:spPr>
          <a:xfrm>
            <a:off x="1597150" y="2628625"/>
            <a:ext cx="1535700" cy="204000"/>
          </a:xfrm>
          <a:prstGeom prst="rect">
            <a:avLst/>
          </a:prstGeom>
          <a:solidFill>
            <a:srgbClr val="9FC5E8">
              <a:alpha val="52649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Evaluation Environment</a:t>
            </a:r>
            <a:endParaRPr/>
          </a:p>
        </p:txBody>
      </p:sp>
      <p:sp>
        <p:nvSpPr>
          <p:cNvPr id="250" name="Google Shape;250;p2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Single Node Implementation</a:t>
            </a:r>
            <a:endParaRPr/>
          </a:p>
          <a:p>
            <a:pPr indent="-310833" lvl="0" marL="457200" rtl="0" algn="l">
              <a:spcBef>
                <a:spcPts val="800"/>
              </a:spcBef>
              <a:spcAft>
                <a:spcPts val="0"/>
              </a:spcAft>
              <a:buSzPct val="66667"/>
              <a:buChar char="-"/>
            </a:pPr>
            <a:r>
              <a:rPr lang="pt-PT"/>
              <a:t>VM, 8GiB RAM, 4 CPU cores, 64 GiB memory, Ubuntu 20.04.4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Multi-Node Implementation</a:t>
            </a:r>
            <a:endParaRPr/>
          </a:p>
          <a:p>
            <a:pPr indent="-310833" lvl="0" marL="457200" rtl="0" algn="l">
              <a:spcBef>
                <a:spcPts val="800"/>
              </a:spcBef>
              <a:spcAft>
                <a:spcPts val="0"/>
              </a:spcAft>
              <a:buSzPct val="66667"/>
              <a:buChar char="-"/>
            </a:pPr>
            <a:r>
              <a:rPr lang="pt-PT"/>
              <a:t>VM, 8GiB RAM, 4 CPU cores, 64 GiB memory, Ubuntu 20.04.4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66667"/>
              <a:buChar char="-"/>
            </a:pPr>
            <a:r>
              <a:rPr lang="pt-PT"/>
              <a:t>Bare-metal, 16GB RAM, 8 CPU cores, 64 GB memory, Debian 11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Evaluation purpose</a:t>
            </a:r>
            <a:endParaRPr/>
          </a:p>
          <a:p>
            <a:pPr indent="-310833" lvl="0" marL="457200" rtl="0" algn="l">
              <a:spcBef>
                <a:spcPts val="800"/>
              </a:spcBef>
              <a:spcAft>
                <a:spcPts val="0"/>
              </a:spcAft>
              <a:buSzPct val="66667"/>
              <a:buChar char="-"/>
            </a:pPr>
            <a:r>
              <a:rPr lang="pt-PT"/>
              <a:t>Functional validation of the solution developed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66667"/>
              <a:buChar char="-"/>
            </a:pPr>
            <a:r>
              <a:rPr lang="pt-PT"/>
              <a:t>Initial (comparative) performance evaluation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Results</a:t>
            </a:r>
            <a:endParaRPr/>
          </a:p>
        </p:txBody>
      </p:sp>
      <p:sp>
        <p:nvSpPr>
          <p:cNvPr id="256" name="Google Shape;256;p2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Metrics collected: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Alert responsiveness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Key Results: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       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     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Results</a:t>
            </a:r>
            <a:endParaRPr/>
          </a:p>
        </p:txBody>
      </p:sp>
      <p:sp>
        <p:nvSpPr>
          <p:cNvPr id="262" name="Google Shape;262;p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Metrics collected: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Alert responsiveness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           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Key Results: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           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6686" y="273842"/>
            <a:ext cx="6572434" cy="469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Results</a:t>
            </a:r>
            <a:endParaRPr/>
          </a:p>
        </p:txBody>
      </p:sp>
      <p:sp>
        <p:nvSpPr>
          <p:cNvPr id="269" name="Google Shape;269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Metrics collected: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Alert responsiveness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           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Key Results: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Zero false alerts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Solution does not slow with volume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1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Results</a:t>
            </a:r>
            <a:endParaRPr/>
          </a:p>
        </p:txBody>
      </p:sp>
      <p:sp>
        <p:nvSpPr>
          <p:cNvPr id="275" name="Google Shape;275;p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Metrics collected: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Alert responsiveness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Deployment time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Key Results: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Zero false alerts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Solution does not slow with volume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400" y="139399"/>
            <a:ext cx="5011025" cy="478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Results</a:t>
            </a:r>
            <a:endParaRPr/>
          </a:p>
        </p:txBody>
      </p:sp>
      <p:sp>
        <p:nvSpPr>
          <p:cNvPr id="282" name="Google Shape;282;p3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Metrics collected: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Alert responsiveness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Deployment time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CPU and memory usage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Key Results: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Zero false alerts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Solution does not slow with volume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Low resource consumption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3" name="Google Shape;283;p32"/>
          <p:cNvGrpSpPr/>
          <p:nvPr/>
        </p:nvGrpSpPr>
        <p:grpSpPr>
          <a:xfrm>
            <a:off x="4063944" y="273850"/>
            <a:ext cx="4817802" cy="4604625"/>
            <a:chOff x="4063944" y="273850"/>
            <a:chExt cx="4817802" cy="4604625"/>
          </a:xfrm>
        </p:grpSpPr>
        <p:pic>
          <p:nvPicPr>
            <p:cNvPr id="284" name="Google Shape;284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63944" y="273850"/>
              <a:ext cx="4817802" cy="46046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5" name="Google Shape;285;p32"/>
            <p:cNvCxnSpPr/>
            <p:nvPr/>
          </p:nvCxnSpPr>
          <p:spPr>
            <a:xfrm flipH="1" rot="10800000">
              <a:off x="5090936" y="3892748"/>
              <a:ext cx="255900" cy="119400"/>
            </a:xfrm>
            <a:prstGeom prst="straightConnector1">
              <a:avLst/>
            </a:prstGeom>
            <a:noFill/>
            <a:ln cap="flat" cmpd="sng" w="9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" name="Google Shape;286;p32"/>
            <p:cNvCxnSpPr/>
            <p:nvPr/>
          </p:nvCxnSpPr>
          <p:spPr>
            <a:xfrm flipH="1" rot="10800000">
              <a:off x="6500922" y="3768818"/>
              <a:ext cx="264600" cy="222000"/>
            </a:xfrm>
            <a:prstGeom prst="straightConnector1">
              <a:avLst/>
            </a:prstGeom>
            <a:noFill/>
            <a:ln cap="flat" cmpd="sng" w="9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7" name="Google Shape;287;p32"/>
            <p:cNvCxnSpPr/>
            <p:nvPr/>
          </p:nvCxnSpPr>
          <p:spPr>
            <a:xfrm flipH="1" rot="10800000">
              <a:off x="7909569" y="4110413"/>
              <a:ext cx="264600" cy="42600"/>
            </a:xfrm>
            <a:prstGeom prst="straightConnector1">
              <a:avLst/>
            </a:prstGeom>
            <a:noFill/>
            <a:ln cap="flat" cmpd="sng" w="9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3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Results</a:t>
            </a:r>
            <a:endParaRPr/>
          </a:p>
        </p:txBody>
      </p:sp>
      <p:sp>
        <p:nvSpPr>
          <p:cNvPr id="293" name="Google Shape;293;p3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Metrics collected: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Alert responsiveness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Deployment time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CPU and memory usage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Key Results: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Zero false alerts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Solution does not slow with volume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Low resource consumption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3"/>
          <p:cNvSpPr/>
          <p:nvPr/>
        </p:nvSpPr>
        <p:spPr>
          <a:xfrm>
            <a:off x="3771275" y="3004625"/>
            <a:ext cx="2028900" cy="76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95" name="Google Shape;2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537" y="140650"/>
            <a:ext cx="4854880" cy="3279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5800" y="3470698"/>
            <a:ext cx="5101618" cy="14145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p33"/>
          <p:cNvCxnSpPr/>
          <p:nvPr/>
        </p:nvCxnSpPr>
        <p:spPr>
          <a:xfrm flipH="1" rot="10800000">
            <a:off x="4294236" y="3445630"/>
            <a:ext cx="126000" cy="58800"/>
          </a:xfrm>
          <a:prstGeom prst="straightConnector1">
            <a:avLst/>
          </a:prstGeom>
          <a:noFill/>
          <a:ln cap="flat" cmpd="sng" w="89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33"/>
          <p:cNvCxnSpPr/>
          <p:nvPr/>
        </p:nvCxnSpPr>
        <p:spPr>
          <a:xfrm flipH="1" rot="10800000">
            <a:off x="4294236" y="3383763"/>
            <a:ext cx="126000" cy="58800"/>
          </a:xfrm>
          <a:prstGeom prst="straightConnector1">
            <a:avLst/>
          </a:prstGeom>
          <a:noFill/>
          <a:ln cap="flat" cmpd="sng" w="89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3"/>
          <p:cNvCxnSpPr/>
          <p:nvPr/>
        </p:nvCxnSpPr>
        <p:spPr>
          <a:xfrm flipH="1" rot="10800000">
            <a:off x="8679953" y="3445630"/>
            <a:ext cx="126000" cy="58800"/>
          </a:xfrm>
          <a:prstGeom prst="straightConnector1">
            <a:avLst/>
          </a:prstGeom>
          <a:noFill/>
          <a:ln cap="flat" cmpd="sng" w="89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3"/>
          <p:cNvCxnSpPr/>
          <p:nvPr/>
        </p:nvCxnSpPr>
        <p:spPr>
          <a:xfrm flipH="1" rot="10800000">
            <a:off x="8679953" y="3383763"/>
            <a:ext cx="126000" cy="58800"/>
          </a:xfrm>
          <a:prstGeom prst="straightConnector1">
            <a:avLst/>
          </a:prstGeom>
          <a:noFill/>
          <a:ln cap="flat" cmpd="sng" w="89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3"/>
          <p:cNvCxnSpPr/>
          <p:nvPr/>
        </p:nvCxnSpPr>
        <p:spPr>
          <a:xfrm flipH="1" rot="10800000">
            <a:off x="4986327" y="3806629"/>
            <a:ext cx="226200" cy="267900"/>
          </a:xfrm>
          <a:prstGeom prst="straightConnector1">
            <a:avLst/>
          </a:prstGeom>
          <a:noFill/>
          <a:ln cap="flat" cmpd="sng" w="8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33"/>
          <p:cNvSpPr txBox="1"/>
          <p:nvPr/>
        </p:nvSpPr>
        <p:spPr>
          <a:xfrm>
            <a:off x="4679287" y="3445494"/>
            <a:ext cx="8403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400" lIns="114400" spcFirstLastPara="1" rIns="114400" wrap="square" tIns="11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76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69 MiB</a:t>
            </a:r>
            <a:endParaRPr sz="1376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03" name="Google Shape;303;p33"/>
          <p:cNvCxnSpPr/>
          <p:nvPr/>
        </p:nvCxnSpPr>
        <p:spPr>
          <a:xfrm flipH="1" rot="10800000">
            <a:off x="6426931" y="2876684"/>
            <a:ext cx="225900" cy="150900"/>
          </a:xfrm>
          <a:prstGeom prst="straightConnector1">
            <a:avLst/>
          </a:prstGeom>
          <a:noFill/>
          <a:ln cap="flat" cmpd="sng" w="8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" name="Google Shape;304;p33"/>
          <p:cNvSpPr txBox="1"/>
          <p:nvPr/>
        </p:nvSpPr>
        <p:spPr>
          <a:xfrm>
            <a:off x="6119688" y="2561768"/>
            <a:ext cx="8403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400" lIns="114400" spcFirstLastPara="1" rIns="114400" wrap="square" tIns="11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76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51 MiB</a:t>
            </a:r>
            <a:endParaRPr sz="1376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05" name="Google Shape;305;p33"/>
          <p:cNvCxnSpPr/>
          <p:nvPr/>
        </p:nvCxnSpPr>
        <p:spPr>
          <a:xfrm flipH="1" rot="10800000">
            <a:off x="7875887" y="1193403"/>
            <a:ext cx="267900" cy="1314900"/>
          </a:xfrm>
          <a:prstGeom prst="straightConnector1">
            <a:avLst/>
          </a:prstGeom>
          <a:noFill/>
          <a:ln cap="flat" cmpd="sng" w="89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33"/>
          <p:cNvSpPr txBox="1"/>
          <p:nvPr/>
        </p:nvSpPr>
        <p:spPr>
          <a:xfrm>
            <a:off x="7303451" y="1269994"/>
            <a:ext cx="8403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400" lIns="114400" spcFirstLastPara="1" rIns="114400" wrap="square" tIns="11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76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322 MiB</a:t>
            </a:r>
            <a:endParaRPr sz="1376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Results</a:t>
            </a:r>
            <a:endParaRPr/>
          </a:p>
        </p:txBody>
      </p:sp>
      <p:sp>
        <p:nvSpPr>
          <p:cNvPr id="312" name="Google Shape;312;p3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Metrics collected: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Alert responsiveness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Deployment time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CPU and memory usage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Key Results: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Zero false alerts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Solution does not slow with volume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Low resource consumption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Main Takeaway: the solution scales well for small clusters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5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Discussion and Future Work</a:t>
            </a:r>
            <a:endParaRPr/>
          </a:p>
        </p:txBody>
      </p:sp>
      <p:sp>
        <p:nvSpPr>
          <p:cNvPr id="318" name="Google Shape;318;p3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Strengths: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lightweight, modular, customizable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near real-time alerts with kernel-level granularity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Limitations: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rule-based observation quality depends on coverage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Future directions: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automated rule generation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PT"/>
              <a:t>node quarantine/removal on compromise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6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Conclusion</a:t>
            </a:r>
            <a:endParaRPr/>
          </a:p>
        </p:txBody>
      </p:sp>
      <p:sp>
        <p:nvSpPr>
          <p:cNvPr id="324" name="Google Shape;324;p3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Host behavior monitoring is a viable foundation for edge workflow security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Proposed solution is lightweight, accurate, and practical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PT"/>
              <a:t>Current work paves the way for future systems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7"/>
          <p:cNvSpPr txBox="1"/>
          <p:nvPr>
            <p:ph type="title"/>
          </p:nvPr>
        </p:nvSpPr>
        <p:spPr>
          <a:xfrm>
            <a:off x="623888" y="1282305"/>
            <a:ext cx="7886700" cy="2139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Thank you for your time!</a:t>
            </a:r>
            <a:endParaRPr/>
          </a:p>
        </p:txBody>
      </p:sp>
      <p:sp>
        <p:nvSpPr>
          <p:cNvPr id="330" name="Google Shape;330;p37"/>
          <p:cNvSpPr txBox="1"/>
          <p:nvPr>
            <p:ph idx="1" type="body"/>
          </p:nvPr>
        </p:nvSpPr>
        <p:spPr>
          <a:xfrm>
            <a:off x="623888" y="3442099"/>
            <a:ext cx="7886700" cy="1125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5Growth">
      <a:dk1>
        <a:srgbClr val="000000"/>
      </a:dk1>
      <a:lt1>
        <a:srgbClr val="FFFFFF"/>
      </a:lt1>
      <a:dk2>
        <a:srgbClr val="00092B"/>
      </a:dk2>
      <a:lt2>
        <a:srgbClr val="F2F2F2"/>
      </a:lt2>
      <a:accent1>
        <a:srgbClr val="4489EB"/>
      </a:accent1>
      <a:accent2>
        <a:srgbClr val="274F9A"/>
      </a:accent2>
      <a:accent3>
        <a:srgbClr val="091548"/>
      </a:accent3>
      <a:accent4>
        <a:srgbClr val="6DA140"/>
      </a:accent4>
      <a:accent5>
        <a:srgbClr val="FF794D"/>
      </a:accent5>
      <a:accent6>
        <a:srgbClr val="B55636"/>
      </a:accent6>
      <a:hlink>
        <a:srgbClr val="FF794D"/>
      </a:hlink>
      <a:folHlink>
        <a:srgbClr val="B5563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