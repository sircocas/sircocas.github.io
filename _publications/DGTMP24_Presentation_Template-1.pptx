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Corbel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yGVpA/5o1cyDoOoV62+KrDK9v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rbel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Corbel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Corbel-bold.fntdata"/><Relationship Id="rId6" Type="http://schemas.openxmlformats.org/officeDocument/2006/relationships/slide" Target="slides/slide2.xml"/><Relationship Id="rId18" Type="http://schemas.openxmlformats.org/officeDocument/2006/relationships/font" Target="fonts/Corbel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a471599f95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a471599f95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2a471599f95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a471599f9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a471599f9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a471599f95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a471599f95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a471599f95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a471599f95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tornar explícito, enquanto falo, que a ideia é que dar provide à infrastrutura que depois podem usar para observar da maneira que querem (acho que faz sentido?)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a471599f95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a471599f95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a471599f95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a471599f95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a471599f95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a471599f95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a471599f95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a471599f95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a471599f95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a471599f95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go of a ship&#10;&#10;Description automatically generated" id="13" name="Google Shape;13;p8"/>
          <p:cNvPicPr preferRelativeResize="0"/>
          <p:nvPr/>
        </p:nvPicPr>
        <p:blipFill rotWithShape="1">
          <a:blip r:embed="rId2">
            <a:alphaModFix/>
          </a:blip>
          <a:srcRect b="0" l="8298" r="0" t="0"/>
          <a:stretch/>
        </p:blipFill>
        <p:spPr>
          <a:xfrm>
            <a:off x="0" y="0"/>
            <a:ext cx="12192000" cy="68669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white text&#10;&#10;Description automatically generated" id="14" name="Google Shape;14;p8"/>
          <p:cNvPicPr preferRelativeResize="0"/>
          <p:nvPr/>
        </p:nvPicPr>
        <p:blipFill rotWithShape="1">
          <a:blip r:embed="rId3">
            <a:alphaModFix/>
          </a:blip>
          <a:srcRect b="26259" l="0" r="0" t="0"/>
          <a:stretch/>
        </p:blipFill>
        <p:spPr>
          <a:xfrm>
            <a:off x="555171" y="3367299"/>
            <a:ext cx="5453743" cy="257408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8"/>
          <p:cNvSpPr txBox="1"/>
          <p:nvPr/>
        </p:nvSpPr>
        <p:spPr>
          <a:xfrm>
            <a:off x="1639673" y="5344160"/>
            <a:ext cx="3284738" cy="430887"/>
          </a:xfrm>
          <a:prstGeom prst="rect">
            <a:avLst/>
          </a:prstGeom>
          <a:solidFill>
            <a:srgbClr val="0C2C3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ÉVORA AND SINES, </a:t>
            </a:r>
            <a:r>
              <a:rPr b="0" i="0" lang="en-GB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PORTUGAL</a:t>
            </a:r>
            <a:endParaRPr/>
          </a:p>
        </p:txBody>
      </p:sp>
      <p:pic>
        <p:nvPicPr>
          <p:cNvPr id="16" name="Google Shape;1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15" y="6048350"/>
            <a:ext cx="4457109" cy="323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12613" y="5994779"/>
            <a:ext cx="4102738" cy="41354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8"/>
          <p:cNvSpPr txBox="1"/>
          <p:nvPr/>
        </p:nvSpPr>
        <p:spPr>
          <a:xfrm>
            <a:off x="1138243" y="1421472"/>
            <a:ext cx="68994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 u="none">
                <a:solidFill>
                  <a:srgbClr val="E8E9DD"/>
                </a:solidFill>
                <a:latin typeface="Calibri"/>
                <a:ea typeface="Calibri"/>
                <a:cs typeface="Calibri"/>
                <a:sym typeface="Calibri"/>
              </a:rPr>
              <a:t>www.</a:t>
            </a:r>
            <a:r>
              <a:rPr b="0" lang="en-GB" sz="1600" u="none">
                <a:solidFill>
                  <a:srgbClr val="E8E9DD"/>
                </a:solidFill>
                <a:latin typeface="Arial"/>
                <a:ea typeface="Arial"/>
                <a:cs typeface="Arial"/>
                <a:sym typeface="Arial"/>
              </a:rPr>
              <a:t>nexusconference</a:t>
            </a:r>
            <a:r>
              <a:rPr b="0" lang="en-GB" sz="1600" u="none">
                <a:solidFill>
                  <a:srgbClr val="E8E9DD"/>
                </a:solidFill>
                <a:latin typeface="Calibri"/>
                <a:ea typeface="Calibri"/>
                <a:cs typeface="Calibri"/>
                <a:sym typeface="Calibri"/>
              </a:rPr>
              <a:t>.uevora.pt</a:t>
            </a:r>
            <a:endParaRPr b="0" sz="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/>
          <p:nvPr/>
        </p:nvSpPr>
        <p:spPr>
          <a:xfrm>
            <a:off x="0" y="0"/>
            <a:ext cx="12192000" cy="1250731"/>
          </a:xfrm>
          <a:prstGeom prst="rect">
            <a:avLst/>
          </a:prstGeom>
          <a:solidFill>
            <a:srgbClr val="0F2B30"/>
          </a:solidFill>
          <a:ln cap="flat" cmpd="sng" w="12700">
            <a:solidFill>
              <a:srgbClr val="3B0D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9"/>
          <p:cNvSpPr/>
          <p:nvPr/>
        </p:nvSpPr>
        <p:spPr>
          <a:xfrm>
            <a:off x="0" y="6295697"/>
            <a:ext cx="12192000" cy="562303"/>
          </a:xfrm>
          <a:prstGeom prst="rect">
            <a:avLst/>
          </a:prstGeom>
          <a:solidFill>
            <a:srgbClr val="0F2B30"/>
          </a:solidFill>
          <a:ln cap="flat" cmpd="sng" w="12700">
            <a:solidFill>
              <a:srgbClr val="3B0D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9304283" y="641508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6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16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16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16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16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16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16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16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16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A group of boats in the water&#10;&#10;Description automatically generated" id="23" name="Google Shape;23;p9"/>
          <p:cNvPicPr preferRelativeResize="0"/>
          <p:nvPr/>
        </p:nvPicPr>
        <p:blipFill rotWithShape="1">
          <a:blip r:embed="rId2">
            <a:alphaModFix/>
          </a:blip>
          <a:srcRect b="0" l="37104" r="33910" t="83689"/>
          <a:stretch/>
        </p:blipFill>
        <p:spPr>
          <a:xfrm>
            <a:off x="8828690" y="0"/>
            <a:ext cx="3363310" cy="125073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9"/>
          <p:cNvSpPr txBox="1"/>
          <p:nvPr>
            <p:ph idx="1" type="body"/>
          </p:nvPr>
        </p:nvSpPr>
        <p:spPr>
          <a:xfrm>
            <a:off x="838199" y="1825625"/>
            <a:ext cx="1051559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F2B30"/>
              </a:buClr>
              <a:buSzPts val="2800"/>
              <a:buChar char="•"/>
              <a:defRPr b="1">
                <a:solidFill>
                  <a:srgbClr val="0F2B3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F2B30"/>
              </a:buClr>
              <a:buSzPts val="2400"/>
              <a:buChar char="•"/>
              <a:defRPr>
                <a:solidFill>
                  <a:srgbClr val="0F2B3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F2B30"/>
              </a:buClr>
              <a:buSzPts val="2000"/>
              <a:buChar char="•"/>
              <a:defRPr>
                <a:solidFill>
                  <a:srgbClr val="0F2B3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F2B30"/>
              </a:buClr>
              <a:buSzPts val="1800"/>
              <a:buChar char="•"/>
              <a:defRPr>
                <a:solidFill>
                  <a:srgbClr val="0F2B3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F2B30"/>
              </a:buClr>
              <a:buSzPts val="1800"/>
              <a:buChar char="•"/>
              <a:defRPr>
                <a:solidFill>
                  <a:srgbClr val="0F2B3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type="title"/>
          </p:nvPr>
        </p:nvSpPr>
        <p:spPr>
          <a:xfrm>
            <a:off x="838200" y="1220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B32F"/>
              </a:buClr>
              <a:buSzPts val="3600"/>
              <a:buFont typeface="Arial"/>
              <a:buNone/>
              <a:defRPr>
                <a:solidFill>
                  <a:srgbClr val="EEB32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/>
          <p:nvPr/>
        </p:nvSpPr>
        <p:spPr>
          <a:xfrm>
            <a:off x="95571" y="-475660"/>
            <a:ext cx="742628" cy="1505191"/>
          </a:xfrm>
          <a:custGeom>
            <a:rect b="b" l="l" r="r" t="t"/>
            <a:pathLst>
              <a:path extrusionOk="0" h="1747777" w="862314">
                <a:moveTo>
                  <a:pt x="862314" y="451413"/>
                </a:moveTo>
                <a:lnTo>
                  <a:pt x="862314" y="1747777"/>
                </a:lnTo>
                <a:lnTo>
                  <a:pt x="0" y="1331089"/>
                </a:lnTo>
                <a:lnTo>
                  <a:pt x="0" y="0"/>
                </a:lnTo>
                <a:lnTo>
                  <a:pt x="57873" y="133109"/>
                </a:lnTo>
                <a:lnTo>
                  <a:pt x="52086" y="1232704"/>
                </a:lnTo>
                <a:lnTo>
                  <a:pt x="792866" y="897038"/>
                </a:lnTo>
                <a:lnTo>
                  <a:pt x="798653" y="393539"/>
                </a:lnTo>
                <a:lnTo>
                  <a:pt x="862314" y="451413"/>
                </a:lnTo>
                <a:close/>
              </a:path>
            </a:pathLst>
          </a:custGeom>
          <a:solidFill>
            <a:srgbClr val="E5E5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6415085"/>
            <a:ext cx="4457109" cy="323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09430" y="6367194"/>
            <a:ext cx="4102738" cy="41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/>
          <p:nvPr/>
        </p:nvSpPr>
        <p:spPr>
          <a:xfrm>
            <a:off x="0" y="0"/>
            <a:ext cx="12192000" cy="1250731"/>
          </a:xfrm>
          <a:prstGeom prst="rect">
            <a:avLst/>
          </a:prstGeom>
          <a:solidFill>
            <a:srgbClr val="0F2B30"/>
          </a:solidFill>
          <a:ln cap="flat" cmpd="sng" w="12700">
            <a:solidFill>
              <a:srgbClr val="3B0D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0"/>
          <p:cNvSpPr/>
          <p:nvPr/>
        </p:nvSpPr>
        <p:spPr>
          <a:xfrm>
            <a:off x="0" y="6295697"/>
            <a:ext cx="12192000" cy="562303"/>
          </a:xfrm>
          <a:prstGeom prst="rect">
            <a:avLst/>
          </a:prstGeom>
          <a:solidFill>
            <a:srgbClr val="0F2B30"/>
          </a:solidFill>
          <a:ln cap="flat" cmpd="sng" w="12700">
            <a:solidFill>
              <a:srgbClr val="3B0D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9304283" y="641508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6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16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16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16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16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16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16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16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16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A group of boats in the water&#10;&#10;Description automatically generated" id="33" name="Google Shape;33;p10"/>
          <p:cNvPicPr preferRelativeResize="0"/>
          <p:nvPr/>
        </p:nvPicPr>
        <p:blipFill rotWithShape="1">
          <a:blip r:embed="rId2">
            <a:alphaModFix/>
          </a:blip>
          <a:srcRect b="0" l="37104" r="33910" t="83689"/>
          <a:stretch/>
        </p:blipFill>
        <p:spPr>
          <a:xfrm>
            <a:off x="8828690" y="0"/>
            <a:ext cx="3363310" cy="1250732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0"/>
          <p:cNvSpPr txBox="1"/>
          <p:nvPr>
            <p:ph idx="1" type="body"/>
          </p:nvPr>
        </p:nvSpPr>
        <p:spPr>
          <a:xfrm>
            <a:off x="838199" y="1825625"/>
            <a:ext cx="1051559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F2B30"/>
              </a:buClr>
              <a:buSzPts val="2800"/>
              <a:buChar char="•"/>
              <a:defRPr b="1">
                <a:solidFill>
                  <a:srgbClr val="0F2B3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F2B30"/>
              </a:buClr>
              <a:buSzPts val="2400"/>
              <a:buChar char="•"/>
              <a:defRPr>
                <a:solidFill>
                  <a:srgbClr val="0F2B3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F2B30"/>
              </a:buClr>
              <a:buSzPts val="2000"/>
              <a:buChar char="•"/>
              <a:defRPr>
                <a:solidFill>
                  <a:srgbClr val="0F2B3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F2B30"/>
              </a:buClr>
              <a:buSzPts val="1800"/>
              <a:buChar char="•"/>
              <a:defRPr>
                <a:solidFill>
                  <a:srgbClr val="0F2B3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F2B30"/>
              </a:buClr>
              <a:buSzPts val="1800"/>
              <a:buChar char="•"/>
              <a:defRPr>
                <a:solidFill>
                  <a:srgbClr val="0F2B3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type="title"/>
          </p:nvPr>
        </p:nvSpPr>
        <p:spPr>
          <a:xfrm>
            <a:off x="838200" y="1220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B32F"/>
              </a:buClr>
              <a:buSzPts val="3600"/>
              <a:buFont typeface="Arial"/>
              <a:buNone/>
              <a:defRPr>
                <a:solidFill>
                  <a:srgbClr val="EEB32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6415085"/>
            <a:ext cx="4457109" cy="323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09430" y="6367194"/>
            <a:ext cx="4102738" cy="41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to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2a471599f95_0_132"/>
          <p:cNvSpPr txBox="1"/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g2a471599f95_0_13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41" name="Google Shape;41;g2a471599f95_0_132"/>
          <p:cNvSpPr txBox="1"/>
          <p:nvPr>
            <p:ph idx="11" type="ftr"/>
          </p:nvPr>
        </p:nvSpPr>
        <p:spPr>
          <a:xfrm>
            <a:off x="6096000" y="6339082"/>
            <a:ext cx="5075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sp>
        <p:nvSpPr>
          <p:cNvPr id="42" name="Google Shape;42;g2a471599f95_0_132"/>
          <p:cNvSpPr txBox="1"/>
          <p:nvPr>
            <p:ph idx="12" type="sldNum"/>
          </p:nvPr>
        </p:nvSpPr>
        <p:spPr>
          <a:xfrm>
            <a:off x="11447639" y="6339082"/>
            <a:ext cx="447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900"/>
            </a:lvl1pPr>
            <a:lvl2pPr indent="0" lvl="1" marL="0" algn="r">
              <a:spcBef>
                <a:spcPts val="0"/>
              </a:spcBef>
              <a:buNone/>
              <a:defRPr sz="1900"/>
            </a:lvl2pPr>
            <a:lvl3pPr indent="0" lvl="2" marL="0" algn="r">
              <a:spcBef>
                <a:spcPts val="0"/>
              </a:spcBef>
              <a:buNone/>
              <a:defRPr sz="1900"/>
            </a:lvl3pPr>
            <a:lvl4pPr indent="0" lvl="3" marL="0" algn="r">
              <a:spcBef>
                <a:spcPts val="0"/>
              </a:spcBef>
              <a:buNone/>
              <a:defRPr sz="1900"/>
            </a:lvl4pPr>
            <a:lvl5pPr indent="0" lvl="4" marL="0" algn="r">
              <a:spcBef>
                <a:spcPts val="0"/>
              </a:spcBef>
              <a:buNone/>
              <a:defRPr sz="1900"/>
            </a:lvl5pPr>
            <a:lvl6pPr indent="0" lvl="5" marL="0" algn="r">
              <a:spcBef>
                <a:spcPts val="0"/>
              </a:spcBef>
              <a:buNone/>
              <a:defRPr sz="1900"/>
            </a:lvl6pPr>
            <a:lvl7pPr indent="0" lvl="6" marL="0" algn="r">
              <a:spcBef>
                <a:spcPts val="0"/>
              </a:spcBef>
              <a:buNone/>
              <a:defRPr sz="1900"/>
            </a:lvl7pPr>
            <a:lvl8pPr indent="0" lvl="7" marL="0" algn="r">
              <a:spcBef>
                <a:spcPts val="0"/>
              </a:spcBef>
              <a:buNone/>
              <a:defRPr sz="1900"/>
            </a:lvl8pPr>
            <a:lvl9pPr indent="0" lvl="8" marL="0" algn="r">
              <a:spcBef>
                <a:spcPts val="0"/>
              </a:spcBef>
              <a:buNone/>
              <a:defRPr sz="1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type="title"/>
          </p:nvPr>
        </p:nvSpPr>
        <p:spPr>
          <a:xfrm>
            <a:off x="838200" y="20547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b="1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Relationship Id="rId4" Type="http://schemas.openxmlformats.org/officeDocument/2006/relationships/image" Target="../media/image5.jpg"/><Relationship Id="rId5" Type="http://schemas.openxmlformats.org/officeDocument/2006/relationships/image" Target="../media/image1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1"/>
          <p:cNvGrpSpPr/>
          <p:nvPr/>
        </p:nvGrpSpPr>
        <p:grpSpPr>
          <a:xfrm>
            <a:off x="1141115" y="1745760"/>
            <a:ext cx="4954849" cy="3656140"/>
            <a:chOff x="382044" y="1913906"/>
            <a:chExt cx="4108507" cy="3656140"/>
          </a:xfrm>
        </p:grpSpPr>
        <p:sp>
          <p:nvSpPr>
            <p:cNvPr id="48" name="Google Shape;48;p1"/>
            <p:cNvSpPr txBox="1"/>
            <p:nvPr/>
          </p:nvSpPr>
          <p:spPr>
            <a:xfrm>
              <a:off x="382044" y="1913906"/>
              <a:ext cx="4108500" cy="193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000">
                  <a:solidFill>
                    <a:srgbClr val="EEB32F"/>
                  </a:solidFill>
                </a:rPr>
                <a:t>Observation At The Edge</a:t>
              </a:r>
              <a:endParaRPr sz="3200">
                <a:solidFill>
                  <a:srgbClr val="EEB32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1"/>
            <p:cNvSpPr txBox="1"/>
            <p:nvPr/>
          </p:nvSpPr>
          <p:spPr>
            <a:xfrm>
              <a:off x="382051" y="3753846"/>
              <a:ext cx="4108500" cy="18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800">
                  <a:solidFill>
                    <a:schemeClr val="lt1"/>
                  </a:solidFill>
                </a:rPr>
                <a:t>A Novel Approach to Edge Node Security</a:t>
              </a:r>
              <a:endParaRPr sz="2800">
                <a:solidFill>
                  <a:schemeClr val="lt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800">
                <a:solidFill>
                  <a:schemeClr val="lt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</a:endParaRPr>
            </a:p>
          </p:txBody>
        </p:sp>
      </p:grpSp>
      <p:sp>
        <p:nvSpPr>
          <p:cNvPr id="50" name="Google Shape;50;p1"/>
          <p:cNvSpPr txBox="1"/>
          <p:nvPr/>
        </p:nvSpPr>
        <p:spPr>
          <a:xfrm>
            <a:off x="1141115" y="4449294"/>
            <a:ext cx="6096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E8E9DD"/>
                </a:solidFill>
              </a:rPr>
              <a:t>Sofia Vaz, Catarina Silva, João Paulo Barraca, Diogo Gomes and Paulo Salvador; Instituto de Telecomunicações, University of Aveiro</a:t>
            </a:r>
            <a:endParaRPr sz="1300">
              <a:solidFill>
                <a:srgbClr val="E8E9D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E8E9D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"/>
          <p:cNvSpPr txBox="1"/>
          <p:nvPr>
            <p:ph type="title"/>
          </p:nvPr>
        </p:nvSpPr>
        <p:spPr>
          <a:xfrm>
            <a:off x="838200" y="1220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Edge Computing</a:t>
            </a:r>
            <a:endParaRPr/>
          </a:p>
        </p:txBody>
      </p:sp>
      <p:sp>
        <p:nvSpPr>
          <p:cNvPr id="56" name="Google Shape;56;p2"/>
          <p:cNvSpPr txBox="1"/>
          <p:nvPr/>
        </p:nvSpPr>
        <p:spPr>
          <a:xfrm>
            <a:off x="9221743" y="887409"/>
            <a:ext cx="2660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600">
                <a:solidFill>
                  <a:srgbClr val="EEB32F"/>
                </a:solidFill>
                <a:latin typeface="Arial"/>
                <a:ea typeface="Arial"/>
                <a:cs typeface="Arial"/>
                <a:sym typeface="Arial"/>
              </a:rPr>
              <a:t>NEXUS International Conference - DGTMP 2024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600">
                <a:solidFill>
                  <a:srgbClr val="CCCFC7"/>
                </a:solidFill>
                <a:latin typeface="Arial"/>
                <a:ea typeface="Arial"/>
                <a:cs typeface="Arial"/>
                <a:sym typeface="Arial"/>
              </a:rPr>
              <a:t>Digital and Green Transition in Maritime Ports: Trends and Challenges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839621" y="93121"/>
            <a:ext cx="68994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E8E9DD"/>
                </a:solidFill>
                <a:latin typeface="Calibri"/>
                <a:ea typeface="Calibri"/>
                <a:cs typeface="Calibri"/>
                <a:sym typeface="Calibri"/>
              </a:rPr>
              <a:t>www.</a:t>
            </a:r>
            <a:r>
              <a:rPr lang="en-GB" sz="1600">
                <a:solidFill>
                  <a:srgbClr val="E8E9DD"/>
                </a:solidFill>
                <a:latin typeface="Arial"/>
                <a:ea typeface="Arial"/>
                <a:cs typeface="Arial"/>
                <a:sym typeface="Arial"/>
              </a:rPr>
              <a:t>nexusconference</a:t>
            </a:r>
            <a:r>
              <a:rPr lang="en-GB" sz="1600">
                <a:solidFill>
                  <a:srgbClr val="E8E9DD"/>
                </a:solidFill>
                <a:latin typeface="Calibri"/>
                <a:ea typeface="Calibri"/>
                <a:cs typeface="Calibri"/>
                <a:sym typeface="Calibri"/>
              </a:rPr>
              <a:t>.uevora.pt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 txBox="1"/>
          <p:nvPr>
            <p:ph idx="1" type="body"/>
          </p:nvPr>
        </p:nvSpPr>
        <p:spPr>
          <a:xfrm>
            <a:off x="838199" y="1825625"/>
            <a:ext cx="1051559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Distributed computing</a:t>
            </a:r>
            <a:endParaRPr/>
          </a:p>
          <a:p>
            <a:pPr indent="-369569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geographically closer to end-users</a:t>
            </a:r>
            <a:endParaRPr/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Key benefits</a:t>
            </a:r>
            <a:endParaRPr/>
          </a:p>
          <a:p>
            <a:pPr indent="-369569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reduced latency</a:t>
            </a:r>
            <a:endParaRPr/>
          </a:p>
          <a:p>
            <a:pPr indent="-369569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higher throughput</a:t>
            </a:r>
            <a:endParaRPr/>
          </a:p>
          <a:p>
            <a:pPr indent="-369569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better resource utilization</a:t>
            </a:r>
            <a:endParaRPr/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Use cases</a:t>
            </a:r>
            <a:endParaRPr/>
          </a:p>
          <a:p>
            <a:pPr indent="-369569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factory automation</a:t>
            </a:r>
            <a:endParaRPr/>
          </a:p>
          <a:p>
            <a:pPr indent="-369569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vehicular communication</a:t>
            </a:r>
            <a:endParaRPr/>
          </a:p>
          <a:p>
            <a:pPr indent="-369569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ports</a:t>
            </a:r>
            <a:endParaRPr/>
          </a:p>
          <a:p>
            <a:pPr indent="-369569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…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2B30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59" name="Google Shape;59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3350" y="2920225"/>
            <a:ext cx="5359249" cy="32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a471599f95_0_6"/>
          <p:cNvSpPr txBox="1"/>
          <p:nvPr>
            <p:ph idx="1" type="body"/>
          </p:nvPr>
        </p:nvSpPr>
        <p:spPr>
          <a:xfrm>
            <a:off x="838200" y="1825625"/>
            <a:ext cx="61764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-"/>
            </a:pPr>
            <a:r>
              <a:rPr lang="en-GB"/>
              <a:t>Orchestrated environment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GB"/>
              <a:t>Running 3rd party applications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(Typical telco configuration for edge environments, NEXUS WP6)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-"/>
            </a:pPr>
            <a:r>
              <a:rPr lang="en-GB"/>
              <a:t>How do we trust applications?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GB"/>
              <a:t>Observation – no need to trust developers, or applications, it is only necessary to watch them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2a471599f95_0_6"/>
          <p:cNvSpPr txBox="1"/>
          <p:nvPr>
            <p:ph type="title"/>
          </p:nvPr>
        </p:nvSpPr>
        <p:spPr>
          <a:xfrm>
            <a:off x="838200" y="12201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Current Scenario</a:t>
            </a:r>
            <a:endParaRPr/>
          </a:p>
        </p:txBody>
      </p:sp>
      <p:pic>
        <p:nvPicPr>
          <p:cNvPr id="67" name="Google Shape;67;g2a471599f95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6100" y="2009450"/>
            <a:ext cx="4926425" cy="398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/>
          <p:nvPr>
            <p:ph type="title"/>
          </p:nvPr>
        </p:nvSpPr>
        <p:spPr>
          <a:xfrm>
            <a:off x="838200" y="1220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Defending Edge Nodes</a:t>
            </a:r>
            <a:endParaRPr/>
          </a:p>
        </p:txBody>
      </p:sp>
      <p:sp>
        <p:nvSpPr>
          <p:cNvPr id="73" name="Google Shape;73;p3"/>
          <p:cNvSpPr txBox="1"/>
          <p:nvPr/>
        </p:nvSpPr>
        <p:spPr>
          <a:xfrm>
            <a:off x="9221743" y="887409"/>
            <a:ext cx="2660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600">
                <a:solidFill>
                  <a:srgbClr val="EEB32F"/>
                </a:solidFill>
                <a:latin typeface="Arial"/>
                <a:ea typeface="Arial"/>
                <a:cs typeface="Arial"/>
                <a:sym typeface="Arial"/>
              </a:rPr>
              <a:t>NEXUS International Conference - DGTMP 2024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600">
                <a:solidFill>
                  <a:srgbClr val="CCCFC7"/>
                </a:solidFill>
                <a:latin typeface="Arial"/>
                <a:ea typeface="Arial"/>
                <a:cs typeface="Arial"/>
                <a:sym typeface="Arial"/>
              </a:rPr>
              <a:t>Digital and Green Transition in Maritime Ports: Trends and Challenges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839621" y="93121"/>
            <a:ext cx="68994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E8E9DD"/>
                </a:solidFill>
                <a:latin typeface="Calibri"/>
                <a:ea typeface="Calibri"/>
                <a:cs typeface="Calibri"/>
                <a:sym typeface="Calibri"/>
              </a:rPr>
              <a:t>www.</a:t>
            </a:r>
            <a:r>
              <a:rPr lang="en-GB" sz="1600">
                <a:solidFill>
                  <a:srgbClr val="E8E9DD"/>
                </a:solidFill>
                <a:latin typeface="Arial"/>
                <a:ea typeface="Arial"/>
                <a:cs typeface="Arial"/>
                <a:sym typeface="Arial"/>
              </a:rPr>
              <a:t>nexusconference</a:t>
            </a:r>
            <a:r>
              <a:rPr lang="en-GB" sz="1600">
                <a:solidFill>
                  <a:srgbClr val="E8E9DD"/>
                </a:solidFill>
                <a:latin typeface="Calibri"/>
                <a:ea typeface="Calibri"/>
                <a:cs typeface="Calibri"/>
                <a:sym typeface="Calibri"/>
              </a:rPr>
              <a:t>.uevora.pt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 txBox="1"/>
          <p:nvPr>
            <p:ph idx="1" type="body"/>
          </p:nvPr>
        </p:nvSpPr>
        <p:spPr>
          <a:xfrm>
            <a:off x="838199" y="1825625"/>
            <a:ext cx="1051559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GB"/>
              <a:t>Attack profiles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GB"/>
              <a:t>known dangerous behavior</a:t>
            </a:r>
            <a:endParaRPr/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GB"/>
              <a:t>- </a:t>
            </a:r>
            <a:r>
              <a:rPr lang="en-GB"/>
              <a:t>Security policies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GB"/>
              <a:t>based on attack profiles</a:t>
            </a:r>
            <a:endParaRPr/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GB"/>
              <a:t>- </a:t>
            </a:r>
            <a:r>
              <a:rPr lang="en-GB"/>
              <a:t>Rules based on policies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GB"/>
              <a:t>Observation based on how attackers to behave 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GB"/>
              <a:t>specific to every deployment and service</a:t>
            </a:r>
            <a:endParaRPr/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2B30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a471599f95_0_23"/>
          <p:cNvSpPr txBox="1"/>
          <p:nvPr>
            <p:ph type="title"/>
          </p:nvPr>
        </p:nvSpPr>
        <p:spPr>
          <a:xfrm>
            <a:off x="838200" y="12201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Solution Developed</a:t>
            </a:r>
            <a:endParaRPr/>
          </a:p>
        </p:txBody>
      </p:sp>
      <p:sp>
        <p:nvSpPr>
          <p:cNvPr id="81" name="Google Shape;81;g2a471599f95_0_23"/>
          <p:cNvSpPr txBox="1"/>
          <p:nvPr>
            <p:ph idx="1" type="body"/>
          </p:nvPr>
        </p:nvSpPr>
        <p:spPr>
          <a:xfrm>
            <a:off x="838199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*</a:t>
            </a:r>
            <a:endParaRPr sz="1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2a471599f95_0_23"/>
          <p:cNvSpPr txBox="1"/>
          <p:nvPr/>
        </p:nvSpPr>
        <p:spPr>
          <a:xfrm>
            <a:off x="8181609" y="5291568"/>
            <a:ext cx="16689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cluster</a:t>
            </a:r>
            <a:endParaRPr sz="2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83" name="Google Shape;83;g2a471599f95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825628"/>
            <a:ext cx="10515600" cy="325722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2a471599f95_0_23"/>
          <p:cNvSpPr txBox="1"/>
          <p:nvPr/>
        </p:nvSpPr>
        <p:spPr>
          <a:xfrm>
            <a:off x="1272067" y="4484867"/>
            <a:ext cx="16689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orchestrator</a:t>
            </a:r>
            <a:endParaRPr sz="2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5" name="Google Shape;85;g2a471599f95_0_23"/>
          <p:cNvCxnSpPr/>
          <p:nvPr/>
        </p:nvCxnSpPr>
        <p:spPr>
          <a:xfrm flipH="1" rot="10800000">
            <a:off x="2168867" y="3846800"/>
            <a:ext cx="18000" cy="7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g2a471599f95_0_23"/>
          <p:cNvCxnSpPr/>
          <p:nvPr/>
        </p:nvCxnSpPr>
        <p:spPr>
          <a:xfrm flipH="1" rot="10800000">
            <a:off x="9103833" y="5087467"/>
            <a:ext cx="384000" cy="42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g2a471599f95_0_23"/>
          <p:cNvSpPr txBox="1"/>
          <p:nvPr/>
        </p:nvSpPr>
        <p:spPr>
          <a:xfrm>
            <a:off x="2168867" y="2740067"/>
            <a:ext cx="384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</a:t>
            </a:r>
            <a:endParaRPr sz="11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8" name="Google Shape;88;g2a471599f95_0_23"/>
          <p:cNvSpPr txBox="1"/>
          <p:nvPr/>
        </p:nvSpPr>
        <p:spPr>
          <a:xfrm>
            <a:off x="2940867" y="3193233"/>
            <a:ext cx="384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</a:t>
            </a:r>
            <a:endParaRPr sz="11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9" name="Google Shape;89;g2a471599f95_0_23"/>
          <p:cNvSpPr txBox="1"/>
          <p:nvPr/>
        </p:nvSpPr>
        <p:spPr>
          <a:xfrm>
            <a:off x="6986967" y="2905500"/>
            <a:ext cx="384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</a:t>
            </a:r>
            <a:endParaRPr sz="11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0" name="Google Shape;90;g2a471599f95_0_23"/>
          <p:cNvSpPr txBox="1"/>
          <p:nvPr/>
        </p:nvSpPr>
        <p:spPr>
          <a:xfrm>
            <a:off x="9992767" y="1899000"/>
            <a:ext cx="384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</a:t>
            </a:r>
            <a:endParaRPr sz="11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" name="Google Shape;91;g2a471599f95_0_23"/>
          <p:cNvSpPr txBox="1"/>
          <p:nvPr/>
        </p:nvSpPr>
        <p:spPr>
          <a:xfrm>
            <a:off x="5001400" y="4409733"/>
            <a:ext cx="384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</a:t>
            </a:r>
            <a:endParaRPr sz="11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2" name="Google Shape;92;g2a471599f95_0_23"/>
          <p:cNvSpPr txBox="1"/>
          <p:nvPr/>
        </p:nvSpPr>
        <p:spPr>
          <a:xfrm>
            <a:off x="5127065" y="4409733"/>
            <a:ext cx="20400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security stack</a:t>
            </a:r>
            <a:endParaRPr sz="2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a471599f95_0_150"/>
          <p:cNvSpPr txBox="1"/>
          <p:nvPr>
            <p:ph type="title"/>
          </p:nvPr>
        </p:nvSpPr>
        <p:spPr>
          <a:xfrm>
            <a:off x="838200" y="12201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Solution developed – dangerous behavior</a:t>
            </a:r>
            <a:endParaRPr/>
          </a:p>
        </p:txBody>
      </p:sp>
      <p:sp>
        <p:nvSpPr>
          <p:cNvPr id="98" name="Google Shape;98;g2a471599f95_0_150"/>
          <p:cNvSpPr txBox="1"/>
          <p:nvPr>
            <p:ph idx="1" type="body"/>
          </p:nvPr>
        </p:nvSpPr>
        <p:spPr>
          <a:xfrm>
            <a:off x="838199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g2a471599f95_0_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825628"/>
            <a:ext cx="10515600" cy="3257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2a471599f95_0_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13567" y="2194500"/>
            <a:ext cx="494400" cy="4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2a471599f95_0_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13567" y="4354200"/>
            <a:ext cx="494400" cy="49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2a471599f95_0_150"/>
          <p:cNvSpPr/>
          <p:nvPr/>
        </p:nvSpPr>
        <p:spPr>
          <a:xfrm flipH="1">
            <a:off x="10513564" y="3861502"/>
            <a:ext cx="350298" cy="381672"/>
          </a:xfrm>
          <a:prstGeom prst="lightningBolt">
            <a:avLst/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3" name="Google Shape;103;g2a471599f95_0_150"/>
          <p:cNvSpPr txBox="1"/>
          <p:nvPr/>
        </p:nvSpPr>
        <p:spPr>
          <a:xfrm>
            <a:off x="9337316" y="4785436"/>
            <a:ext cx="670500" cy="5940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log</a:t>
            </a:r>
            <a:endParaRPr sz="2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04" name="Google Shape;104;g2a471599f95_0_150"/>
          <p:cNvCxnSpPr/>
          <p:nvPr/>
        </p:nvCxnSpPr>
        <p:spPr>
          <a:xfrm flipH="1">
            <a:off x="10019300" y="4848400"/>
            <a:ext cx="494100" cy="7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g2a471599f95_0_150"/>
          <p:cNvSpPr txBox="1"/>
          <p:nvPr/>
        </p:nvSpPr>
        <p:spPr>
          <a:xfrm>
            <a:off x="6533716" y="4107069"/>
            <a:ext cx="670500" cy="5940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log</a:t>
            </a:r>
            <a:endParaRPr sz="2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6" name="Google Shape;106;g2a471599f95_0_150"/>
          <p:cNvSpPr txBox="1"/>
          <p:nvPr/>
        </p:nvSpPr>
        <p:spPr>
          <a:xfrm>
            <a:off x="6096008" y="4629800"/>
            <a:ext cx="17067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(exposed)</a:t>
            </a:r>
            <a:endParaRPr sz="2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7" name="Google Shape;107;g2a471599f95_0_150"/>
          <p:cNvSpPr/>
          <p:nvPr/>
        </p:nvSpPr>
        <p:spPr>
          <a:xfrm>
            <a:off x="3356933" y="3120067"/>
            <a:ext cx="1348800" cy="494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8" name="Google Shape;108;g2a471599f95_0_150"/>
          <p:cNvSpPr txBox="1"/>
          <p:nvPr/>
        </p:nvSpPr>
        <p:spPr>
          <a:xfrm>
            <a:off x="2553850" y="3614469"/>
            <a:ext cx="670500" cy="5940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log</a:t>
            </a:r>
            <a:endParaRPr sz="2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9" name="Google Shape;109;g2a471599f95_0_150"/>
          <p:cNvSpPr txBox="1"/>
          <p:nvPr>
            <p:ph idx="12" type="sldNum"/>
          </p:nvPr>
        </p:nvSpPr>
        <p:spPr>
          <a:xfrm>
            <a:off x="9304283" y="6415085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1600">
                <a:solidFill>
                  <a:srgbClr val="E7E7DD"/>
                </a:solidFill>
              </a:rPr>
              <a:t>‹#›</a:t>
            </a:fld>
            <a:endParaRPr sz="1600">
              <a:solidFill>
                <a:srgbClr val="E7E7DD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a471599f95_0_258"/>
          <p:cNvSpPr txBox="1"/>
          <p:nvPr>
            <p:ph type="title"/>
          </p:nvPr>
        </p:nvSpPr>
        <p:spPr>
          <a:xfrm>
            <a:off x="838200" y="12201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Rules</a:t>
            </a:r>
            <a:endParaRPr/>
          </a:p>
        </p:txBody>
      </p:sp>
      <p:sp>
        <p:nvSpPr>
          <p:cNvPr id="115" name="Google Shape;115;g2a471599f95_0_258"/>
          <p:cNvSpPr txBox="1"/>
          <p:nvPr>
            <p:ph idx="1" type="body"/>
          </p:nvPr>
        </p:nvSpPr>
        <p:spPr>
          <a:xfrm>
            <a:off x="838199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82600" lvl="0" marL="609600" rtl="0" algn="l">
              <a:spcBef>
                <a:spcPts val="1000"/>
              </a:spcBef>
              <a:spcAft>
                <a:spcPts val="0"/>
              </a:spcAft>
              <a:buSzPts val="2800"/>
              <a:buChar char="-"/>
            </a:pPr>
            <a:r>
              <a:rPr lang="en-GB"/>
              <a:t>Triggered at the kernel level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GB"/>
              <a:t>with observation ability from the kernel to the file, container, network and user levels</a:t>
            </a:r>
            <a:endParaRPr/>
          </a:p>
          <a:p>
            <a:pPr indent="-482600" lvl="0" marL="6096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GB"/>
              <a:t>Pre-existing ruleset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GB"/>
              <a:t>with some focus on access and application behavior</a:t>
            </a:r>
            <a:endParaRPr/>
          </a:p>
          <a:p>
            <a:pPr indent="-482600" lvl="0" marL="6096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GB"/>
              <a:t>Fully customizable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GB"/>
              <a:t>possible to cater rules to highly specific environments</a:t>
            </a:r>
            <a:endParaRPr/>
          </a:p>
          <a:p>
            <a:pPr indent="-482600" lvl="0" marL="6096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GB"/>
              <a:t>Rule breaks are visible centrally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GB"/>
              <a:t>Prometheus + Grafana </a:t>
            </a:r>
            <a:endParaRPr/>
          </a:p>
        </p:txBody>
      </p:sp>
      <p:sp>
        <p:nvSpPr>
          <p:cNvPr id="116" name="Google Shape;116;g2a471599f95_0_258"/>
          <p:cNvSpPr txBox="1"/>
          <p:nvPr>
            <p:ph idx="12" type="sldNum"/>
          </p:nvPr>
        </p:nvSpPr>
        <p:spPr>
          <a:xfrm>
            <a:off x="9304283" y="6415085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1600">
                <a:solidFill>
                  <a:srgbClr val="E7E7DD"/>
                </a:solidFill>
              </a:rPr>
              <a:t>‹#›</a:t>
            </a:fld>
            <a:endParaRPr sz="1600">
              <a:solidFill>
                <a:srgbClr val="E7E7D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a471599f95_0_264"/>
          <p:cNvSpPr txBox="1"/>
          <p:nvPr>
            <p:ph type="title"/>
          </p:nvPr>
        </p:nvSpPr>
        <p:spPr>
          <a:xfrm>
            <a:off x="838200" y="12201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Evaluation and Results</a:t>
            </a:r>
            <a:endParaRPr/>
          </a:p>
        </p:txBody>
      </p:sp>
      <p:sp>
        <p:nvSpPr>
          <p:cNvPr id="122" name="Google Shape;122;g2a471599f95_0_264"/>
          <p:cNvSpPr txBox="1"/>
          <p:nvPr>
            <p:ph idx="1" type="body"/>
          </p:nvPr>
        </p:nvSpPr>
        <p:spPr>
          <a:xfrm>
            <a:off x="838199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Evaluation Environment</a:t>
            </a:r>
            <a:endParaRPr/>
          </a:p>
          <a:p>
            <a:pPr indent="-482600" lvl="0" marL="609600" rtl="0" algn="l">
              <a:spcBef>
                <a:spcPts val="1000"/>
              </a:spcBef>
              <a:spcAft>
                <a:spcPts val="0"/>
              </a:spcAft>
              <a:buSzPts val="2800"/>
              <a:buChar char="-"/>
            </a:pPr>
            <a:r>
              <a:rPr lang="en-GB"/>
              <a:t>Single Node Implementation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GB"/>
              <a:t>VM, 8GiB RAM, 4 CPU cores, 64 GiB memory, Ubuntu 20.04.4</a:t>
            </a:r>
            <a:endParaRPr/>
          </a:p>
          <a:p>
            <a:pPr indent="-482600" lvl="0" marL="6096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GB"/>
              <a:t>Multi-Node Implementation 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GB"/>
              <a:t>VM, 8GiB RAM, 4 CPU cores, 64 GiB memory, Ubuntu 20.04.4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GB"/>
              <a:t>Bare-metal, 16GB RAM, 8 CPU cores, 64 GB memory, Debian 11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Evaluation purpose</a:t>
            </a:r>
            <a:endParaRPr/>
          </a:p>
          <a:p>
            <a:pPr indent="-482600" lvl="0" marL="609600" rtl="0" algn="l">
              <a:spcBef>
                <a:spcPts val="1000"/>
              </a:spcBef>
              <a:spcAft>
                <a:spcPts val="0"/>
              </a:spcAft>
              <a:buSzPts val="2800"/>
              <a:buChar char="-"/>
            </a:pPr>
            <a:r>
              <a:rPr lang="en-GB"/>
              <a:t>Functional validation of the solution developed</a:t>
            </a:r>
            <a:endParaRPr/>
          </a:p>
          <a:p>
            <a:pPr indent="-482600" lvl="0" marL="6096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GB"/>
              <a:t>Inicial performance evaluation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GB"/>
              <a:t>Possible to compare how the system behaves with more nodes  </a:t>
            </a:r>
            <a:endParaRPr/>
          </a:p>
        </p:txBody>
      </p:sp>
      <p:sp>
        <p:nvSpPr>
          <p:cNvPr id="123" name="Google Shape;123;g2a471599f95_0_264"/>
          <p:cNvSpPr txBox="1"/>
          <p:nvPr>
            <p:ph idx="12" type="sldNum"/>
          </p:nvPr>
        </p:nvSpPr>
        <p:spPr>
          <a:xfrm>
            <a:off x="9304283" y="6415085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1600">
                <a:solidFill>
                  <a:srgbClr val="E7E7DD"/>
                </a:solidFill>
              </a:rPr>
              <a:t>‹#›</a:t>
            </a:fld>
            <a:endParaRPr sz="1600">
              <a:solidFill>
                <a:srgbClr val="E7E7DD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a471599f95_0_270"/>
          <p:cNvSpPr txBox="1"/>
          <p:nvPr>
            <p:ph type="title"/>
          </p:nvPr>
        </p:nvSpPr>
        <p:spPr>
          <a:xfrm>
            <a:off x="838200" y="12201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– alert data</a:t>
            </a:r>
            <a:endParaRPr/>
          </a:p>
        </p:txBody>
      </p:sp>
      <p:sp>
        <p:nvSpPr>
          <p:cNvPr id="129" name="Google Shape;129;g2a471599f95_0_270"/>
          <p:cNvSpPr txBox="1"/>
          <p:nvPr>
            <p:ph idx="1" type="body"/>
          </p:nvPr>
        </p:nvSpPr>
        <p:spPr>
          <a:xfrm>
            <a:off x="838199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g2a471599f95_0_2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350" y="1870267"/>
            <a:ext cx="11671300" cy="36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2a471599f95_0_270"/>
          <p:cNvSpPr txBox="1"/>
          <p:nvPr/>
        </p:nvSpPr>
        <p:spPr>
          <a:xfrm>
            <a:off x="314583" y="1923833"/>
            <a:ext cx="4221600" cy="334500"/>
          </a:xfrm>
          <a:prstGeom prst="rect">
            <a:avLst/>
          </a:prstGeom>
          <a:solidFill>
            <a:srgbClr val="9FC5E8">
              <a:alpha val="52650"/>
            </a:srgbClr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2" name="Google Shape;132;g2a471599f95_0_270"/>
          <p:cNvSpPr txBox="1"/>
          <p:nvPr/>
        </p:nvSpPr>
        <p:spPr>
          <a:xfrm>
            <a:off x="2177767" y="4048033"/>
            <a:ext cx="2945100" cy="334500"/>
          </a:xfrm>
          <a:prstGeom prst="rect">
            <a:avLst/>
          </a:prstGeom>
          <a:solidFill>
            <a:srgbClr val="9FC5E8">
              <a:alpha val="52650"/>
            </a:srgbClr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3" name="Google Shape;133;g2a471599f95_0_270"/>
          <p:cNvSpPr txBox="1"/>
          <p:nvPr/>
        </p:nvSpPr>
        <p:spPr>
          <a:xfrm>
            <a:off x="5692267" y="3713633"/>
            <a:ext cx="5393100" cy="334500"/>
          </a:xfrm>
          <a:prstGeom prst="rect">
            <a:avLst/>
          </a:prstGeom>
          <a:solidFill>
            <a:srgbClr val="9FC5E8">
              <a:alpha val="52650"/>
            </a:srgbClr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4" name="Google Shape;134;g2a471599f95_0_270"/>
          <p:cNvSpPr txBox="1"/>
          <p:nvPr/>
        </p:nvSpPr>
        <p:spPr>
          <a:xfrm>
            <a:off x="8100000" y="3094600"/>
            <a:ext cx="3831600" cy="334500"/>
          </a:xfrm>
          <a:prstGeom prst="rect">
            <a:avLst/>
          </a:prstGeom>
          <a:solidFill>
            <a:srgbClr val="9FC5E8">
              <a:alpha val="52650"/>
            </a:srgbClr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5" name="Google Shape;135;g2a471599f95_0_270"/>
          <p:cNvSpPr txBox="1"/>
          <p:nvPr/>
        </p:nvSpPr>
        <p:spPr>
          <a:xfrm>
            <a:off x="260367" y="3429000"/>
            <a:ext cx="1417500" cy="334500"/>
          </a:xfrm>
          <a:prstGeom prst="rect">
            <a:avLst/>
          </a:prstGeom>
          <a:solidFill>
            <a:srgbClr val="9FC5E8">
              <a:alpha val="52650"/>
            </a:srgbClr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6" name="Google Shape;136;g2a471599f95_0_270"/>
          <p:cNvSpPr txBox="1"/>
          <p:nvPr/>
        </p:nvSpPr>
        <p:spPr>
          <a:xfrm>
            <a:off x="5277500" y="4663367"/>
            <a:ext cx="4549200" cy="334500"/>
          </a:xfrm>
          <a:prstGeom prst="rect">
            <a:avLst/>
          </a:prstGeom>
          <a:solidFill>
            <a:srgbClr val="9FC5E8">
              <a:alpha val="52650"/>
            </a:srgbClr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7" name="Google Shape;137;g2a471599f95_0_270"/>
          <p:cNvSpPr txBox="1"/>
          <p:nvPr>
            <p:ph idx="12" type="sldNum"/>
          </p:nvPr>
        </p:nvSpPr>
        <p:spPr>
          <a:xfrm>
            <a:off x="9304283" y="6415085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1600">
                <a:solidFill>
                  <a:srgbClr val="E7E7DD"/>
                </a:solidFill>
              </a:rPr>
              <a:t>‹#›</a:t>
            </a:fld>
            <a:endParaRPr sz="1600">
              <a:solidFill>
                <a:srgbClr val="E7E7DD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a471599f95_0_283"/>
          <p:cNvSpPr txBox="1"/>
          <p:nvPr>
            <p:ph type="title"/>
          </p:nvPr>
        </p:nvSpPr>
        <p:spPr>
          <a:xfrm>
            <a:off x="838200" y="12201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– resource consumption</a:t>
            </a:r>
            <a:endParaRPr/>
          </a:p>
        </p:txBody>
      </p:sp>
      <p:sp>
        <p:nvSpPr>
          <p:cNvPr id="143" name="Google Shape;143;g2a471599f95_0_283"/>
          <p:cNvSpPr txBox="1"/>
          <p:nvPr>
            <p:ph idx="1" type="body"/>
          </p:nvPr>
        </p:nvSpPr>
        <p:spPr>
          <a:xfrm>
            <a:off x="838199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g2a471599f95_0_2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767" y="1594267"/>
            <a:ext cx="5036766" cy="481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2a471599f95_0_2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6333" y="1457633"/>
            <a:ext cx="5173566" cy="3494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2a471599f95_0_2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3400" y="5006267"/>
            <a:ext cx="5436500" cy="15074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g2a471599f95_0_283"/>
          <p:cNvCxnSpPr/>
          <p:nvPr/>
        </p:nvCxnSpPr>
        <p:spPr>
          <a:xfrm flipH="1" rot="10800000">
            <a:off x="6947179" y="4979512"/>
            <a:ext cx="134100" cy="62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g2a471599f95_0_283"/>
          <p:cNvCxnSpPr/>
          <p:nvPr/>
        </p:nvCxnSpPr>
        <p:spPr>
          <a:xfrm flipH="1" rot="10800000">
            <a:off x="6947179" y="4913585"/>
            <a:ext cx="134100" cy="62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g2a471599f95_0_283"/>
          <p:cNvCxnSpPr/>
          <p:nvPr/>
        </p:nvCxnSpPr>
        <p:spPr>
          <a:xfrm flipH="1" rot="10800000">
            <a:off x="11620779" y="4979512"/>
            <a:ext cx="134100" cy="62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g2a471599f95_0_283"/>
          <p:cNvCxnSpPr/>
          <p:nvPr/>
        </p:nvCxnSpPr>
        <p:spPr>
          <a:xfrm flipH="1" rot="10800000">
            <a:off x="11620779" y="4913585"/>
            <a:ext cx="134100" cy="62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g2a471599f95_0_283"/>
          <p:cNvCxnSpPr/>
          <p:nvPr/>
        </p:nvCxnSpPr>
        <p:spPr>
          <a:xfrm flipH="1" rot="10800000">
            <a:off x="1694433" y="5377667"/>
            <a:ext cx="267600" cy="12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g2a471599f95_0_283"/>
          <p:cNvCxnSpPr/>
          <p:nvPr/>
        </p:nvCxnSpPr>
        <p:spPr>
          <a:xfrm flipH="1" rot="10800000">
            <a:off x="7684700" y="5364133"/>
            <a:ext cx="24120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" name="Google Shape;153;g2a471599f95_0_283"/>
          <p:cNvSpPr txBox="1"/>
          <p:nvPr/>
        </p:nvSpPr>
        <p:spPr>
          <a:xfrm>
            <a:off x="7357506" y="4979408"/>
            <a:ext cx="8955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69 MiB</a:t>
            </a:r>
            <a:endParaRPr sz="15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54" name="Google Shape;154;g2a471599f95_0_283"/>
          <p:cNvCxnSpPr/>
          <p:nvPr/>
        </p:nvCxnSpPr>
        <p:spPr>
          <a:xfrm flipH="1" rot="10800000">
            <a:off x="3168500" y="5248267"/>
            <a:ext cx="276900" cy="23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g2a471599f95_0_283"/>
          <p:cNvCxnSpPr/>
          <p:nvPr/>
        </p:nvCxnSpPr>
        <p:spPr>
          <a:xfrm flipH="1" rot="10800000">
            <a:off x="9219867" y="4373267"/>
            <a:ext cx="240900" cy="16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g2a471599f95_0_283"/>
          <p:cNvSpPr txBox="1"/>
          <p:nvPr/>
        </p:nvSpPr>
        <p:spPr>
          <a:xfrm>
            <a:off x="8892456" y="4037675"/>
            <a:ext cx="8955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51 MiB</a:t>
            </a:r>
            <a:endParaRPr sz="15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57" name="Google Shape;157;g2a471599f95_0_283"/>
          <p:cNvCxnSpPr/>
          <p:nvPr/>
        </p:nvCxnSpPr>
        <p:spPr>
          <a:xfrm flipH="1" rot="10800000">
            <a:off x="4641167" y="5605333"/>
            <a:ext cx="276900" cy="4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g2a471599f95_0_283"/>
          <p:cNvCxnSpPr/>
          <p:nvPr/>
        </p:nvCxnSpPr>
        <p:spPr>
          <a:xfrm flipH="1" rot="10800000">
            <a:off x="10763933" y="2579400"/>
            <a:ext cx="285600" cy="140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g2a471599f95_0_283"/>
          <p:cNvSpPr txBox="1"/>
          <p:nvPr/>
        </p:nvSpPr>
        <p:spPr>
          <a:xfrm>
            <a:off x="10153922" y="2661108"/>
            <a:ext cx="8955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322 MiB</a:t>
            </a:r>
            <a:endParaRPr sz="15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0" name="Google Shape;160;g2a471599f95_0_283"/>
          <p:cNvSpPr txBox="1"/>
          <p:nvPr>
            <p:ph idx="12" type="sldNum"/>
          </p:nvPr>
        </p:nvSpPr>
        <p:spPr>
          <a:xfrm>
            <a:off x="9304283" y="6415085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1600">
                <a:solidFill>
                  <a:srgbClr val="E7E7DD"/>
                </a:solidFill>
              </a:rPr>
              <a:t>‹#›</a:t>
            </a:fld>
            <a:endParaRPr sz="1600">
              <a:solidFill>
                <a:srgbClr val="E7E7DD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a471599f95_0_305"/>
          <p:cNvSpPr txBox="1"/>
          <p:nvPr>
            <p:ph type="title"/>
          </p:nvPr>
        </p:nvSpPr>
        <p:spPr>
          <a:xfrm>
            <a:off x="838200" y="12201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– times</a:t>
            </a:r>
            <a:endParaRPr/>
          </a:p>
        </p:txBody>
      </p:sp>
      <p:sp>
        <p:nvSpPr>
          <p:cNvPr id="166" name="Google Shape;166;g2a471599f95_0_305"/>
          <p:cNvSpPr txBox="1"/>
          <p:nvPr>
            <p:ph idx="1" type="body"/>
          </p:nvPr>
        </p:nvSpPr>
        <p:spPr>
          <a:xfrm>
            <a:off x="838199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g2a471599f95_0_3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761" y="1653217"/>
            <a:ext cx="6572434" cy="469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2a471599f95_0_3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5267" y="1211417"/>
            <a:ext cx="5651134" cy="540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2a471599f95_0_305"/>
          <p:cNvSpPr txBox="1"/>
          <p:nvPr>
            <p:ph idx="12" type="sldNum"/>
          </p:nvPr>
        </p:nvSpPr>
        <p:spPr>
          <a:xfrm>
            <a:off x="9304283" y="6415085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1600">
                <a:solidFill>
                  <a:srgbClr val="E7E7DD"/>
                </a:solidFill>
              </a:rPr>
              <a:t>‹#›</a:t>
            </a:fld>
            <a:endParaRPr sz="1600">
              <a:solidFill>
                <a:srgbClr val="E7E7D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a471599f95_0_313"/>
          <p:cNvSpPr txBox="1"/>
          <p:nvPr>
            <p:ph type="title"/>
          </p:nvPr>
        </p:nvSpPr>
        <p:spPr>
          <a:xfrm>
            <a:off x="838200" y="12201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Conclusions</a:t>
            </a:r>
            <a:endParaRPr/>
          </a:p>
        </p:txBody>
      </p:sp>
      <p:sp>
        <p:nvSpPr>
          <p:cNvPr id="175" name="Google Shape;175;g2a471599f95_0_313"/>
          <p:cNvSpPr txBox="1"/>
          <p:nvPr>
            <p:ph idx="1" type="body"/>
          </p:nvPr>
        </p:nvSpPr>
        <p:spPr>
          <a:xfrm>
            <a:off x="838199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Contributions:</a:t>
            </a:r>
            <a:endParaRPr/>
          </a:p>
          <a:p>
            <a:pPr indent="-482600" lvl="0" marL="609600" rtl="0" algn="l">
              <a:spcBef>
                <a:spcPts val="1000"/>
              </a:spcBef>
              <a:spcAft>
                <a:spcPts val="0"/>
              </a:spcAft>
              <a:buSzPts val="2800"/>
              <a:buChar char="-"/>
            </a:pPr>
            <a:r>
              <a:rPr lang="en-GB"/>
              <a:t>Novel approach to security in orchestrated edge environments</a:t>
            </a:r>
            <a:endParaRPr/>
          </a:p>
          <a:p>
            <a:pPr indent="-482600" lvl="0" marL="6096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GB"/>
              <a:t>Customizable environment, highly adaptable</a:t>
            </a:r>
            <a:endParaRPr/>
          </a:p>
          <a:p>
            <a:pPr indent="-482600" lvl="0" marL="6096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GB"/>
              <a:t>Reliable and lightweight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Future Work:</a:t>
            </a:r>
            <a:endParaRPr/>
          </a:p>
          <a:p>
            <a:pPr indent="-482600" lvl="0" marL="609600" rtl="0" algn="l">
              <a:spcBef>
                <a:spcPts val="1000"/>
              </a:spcBef>
              <a:spcAft>
                <a:spcPts val="0"/>
              </a:spcAft>
              <a:buSzPts val="2800"/>
              <a:buChar char="-"/>
            </a:pPr>
            <a:r>
              <a:rPr lang="en-GB"/>
              <a:t>Define defense profiles (Common Threats, Relevant Threat Actors, MITRE ATTACK)</a:t>
            </a:r>
            <a:endParaRPr/>
          </a:p>
          <a:p>
            <a:pPr indent="-482600" lvl="0" marL="6096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GB"/>
              <a:t>Automated rule creation based on attackers, environment, etc.</a:t>
            </a:r>
            <a:endParaRPr/>
          </a:p>
          <a:p>
            <a:pPr indent="-482600" lvl="0" marL="6096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GB"/>
              <a:t>Larger testbeds</a:t>
            </a:r>
            <a:endParaRPr/>
          </a:p>
        </p:txBody>
      </p:sp>
      <p:sp>
        <p:nvSpPr>
          <p:cNvPr id="176" name="Google Shape;176;g2a471599f95_0_313"/>
          <p:cNvSpPr txBox="1"/>
          <p:nvPr>
            <p:ph idx="12" type="sldNum"/>
          </p:nvPr>
        </p:nvSpPr>
        <p:spPr>
          <a:xfrm>
            <a:off x="9304283" y="6415085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 sz="1600">
                <a:solidFill>
                  <a:srgbClr val="E7E7DD"/>
                </a:solidFill>
              </a:rPr>
              <a:t>‹#›</a:t>
            </a:fld>
            <a:endParaRPr sz="1600">
              <a:solidFill>
                <a:srgbClr val="E7E7D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background with white text&#10;&#10;Description automatically generated" id="181" name="Google Shape;181;p6"/>
          <p:cNvPicPr preferRelativeResize="0"/>
          <p:nvPr/>
        </p:nvPicPr>
        <p:blipFill rotWithShape="1">
          <a:blip r:embed="rId3">
            <a:alphaModFix/>
          </a:blip>
          <a:srcRect b="26369" l="0" r="0" t="0"/>
          <a:stretch/>
        </p:blipFill>
        <p:spPr>
          <a:xfrm>
            <a:off x="555171" y="3367300"/>
            <a:ext cx="5453743" cy="257020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6"/>
          <p:cNvSpPr txBox="1"/>
          <p:nvPr/>
        </p:nvSpPr>
        <p:spPr>
          <a:xfrm>
            <a:off x="1141115" y="1745760"/>
            <a:ext cx="4954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EEB32F"/>
                </a:solidFill>
                <a:latin typeface="Arial"/>
                <a:ea typeface="Arial"/>
                <a:cs typeface="Arial"/>
                <a:sym typeface="Arial"/>
              </a:rPr>
              <a:t>Thank you all!</a:t>
            </a:r>
            <a:endParaRPr sz="3200">
              <a:solidFill>
                <a:srgbClr val="EEB3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6212750" y="0"/>
            <a:ext cx="5979300" cy="6858000"/>
          </a:xfrm>
          <a:prstGeom prst="rect">
            <a:avLst/>
          </a:prstGeom>
          <a:gradFill>
            <a:gsLst>
              <a:gs pos="0">
                <a:srgbClr val="0C2C31"/>
              </a:gs>
              <a:gs pos="46000">
                <a:srgbClr val="0C2C31">
                  <a:alpha val="63921"/>
                </a:srgbClr>
              </a:gs>
              <a:gs pos="100000">
                <a:srgbClr val="EEB32F">
                  <a:alpha val="40784"/>
                </a:srgbClr>
              </a:gs>
            </a:gsLst>
            <a:lin ang="0" scaled="0"/>
          </a:gradFill>
          <a:ln cap="flat" cmpd="sng" w="12700">
            <a:solidFill>
              <a:srgbClr val="3B0D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1236365" y="2879695"/>
            <a:ext cx="609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rgbClr val="E8E9DD"/>
                </a:solidFill>
              </a:rPr>
              <a:t>Sofia Vaz, Catarina Silva, João Paulo Barraca, Diogo Gomes and Paulo Salvador; Instituto de Telecomunicações, University of Aveiro</a:t>
            </a:r>
            <a:endParaRPr sz="1800">
              <a:solidFill>
                <a:srgbClr val="E8E9DD"/>
              </a:solidFill>
            </a:endParaRPr>
          </a:p>
        </p:txBody>
      </p:sp>
      <p:sp>
        <p:nvSpPr>
          <p:cNvPr id="185" name="Google Shape;185;p6"/>
          <p:cNvSpPr txBox="1"/>
          <p:nvPr/>
        </p:nvSpPr>
        <p:spPr>
          <a:xfrm>
            <a:off x="1639673" y="5344160"/>
            <a:ext cx="3284738" cy="430887"/>
          </a:xfrm>
          <a:prstGeom prst="rect">
            <a:avLst/>
          </a:prstGeom>
          <a:solidFill>
            <a:srgbClr val="0C2C3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ÉVORA AND SINES, </a:t>
            </a:r>
            <a:r>
              <a:rPr lang="en-GB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PORTUGAL</a:t>
            </a:r>
            <a:endParaRPr/>
          </a:p>
        </p:txBody>
      </p:sp>
      <p:sp>
        <p:nvSpPr>
          <p:cNvPr id="186" name="Google Shape;186;p6"/>
          <p:cNvSpPr txBox="1"/>
          <p:nvPr/>
        </p:nvSpPr>
        <p:spPr>
          <a:xfrm>
            <a:off x="1138243" y="1555337"/>
            <a:ext cx="689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12613" y="5994780"/>
            <a:ext cx="4102733" cy="41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1115" y="6048350"/>
            <a:ext cx="4457109" cy="323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9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D1F6C"/>
      </a:accent1>
      <a:accent2>
        <a:srgbClr val="EDBE23"/>
      </a:accent2>
      <a:accent3>
        <a:srgbClr val="24A2D5"/>
      </a:accent3>
      <a:accent4>
        <a:srgbClr val="93BA21"/>
      </a:accent4>
      <a:accent5>
        <a:srgbClr val="5F349C"/>
      </a:accent5>
      <a:accent6>
        <a:srgbClr val="DB2E2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2020-02-17T06:54:48Z</dcterms:created>
  <dc:creator>Sandra Filipe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5329217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S10.0.0</vt:lpwstr>
  </property>
  <property fmtid="{D5CDD505-2E9C-101B-9397-08002B2CF9AE}" pid="5" name="ContentTypeId">
    <vt:lpwstr>0x01010070CBA4694AFEB2419B5C2DBA8C5758C7</vt:lpwstr>
  </property>
  <property fmtid="{D5CDD505-2E9C-101B-9397-08002B2CF9AE}" pid="6" name="MediaServiceImageTags">
    <vt:lpwstr/>
  </property>
</Properties>
</file>