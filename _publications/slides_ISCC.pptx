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Lst>
  <p:sldSz cy="5143500" cx="9144000"/>
  <p:notesSz cx="6858000" cy="9144000"/>
  <p:embeddedFontLst>
    <p:embeddedFont>
      <p:font typeface="Corbel"/>
      <p:regular r:id="rId121"/>
      <p:bold r:id="rId122"/>
      <p:italic r:id="rId123"/>
      <p:boldItalic r:id="rId1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422AF6-6948-47BE-83DB-EB5E14C94816}">
  <a:tblStyle styleId="{3F422AF6-6948-47BE-83DB-EB5E14C9481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121" Type="http://schemas.openxmlformats.org/officeDocument/2006/relationships/font" Target="fonts/Corbel-regular.fntdata"/><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24" Type="http://schemas.openxmlformats.org/officeDocument/2006/relationships/font" Target="fonts/Corbel-boldItalic.fntdata"/><Relationship Id="rId123" Type="http://schemas.openxmlformats.org/officeDocument/2006/relationships/font" Target="fonts/Corbel-italic.fntdata"/><Relationship Id="rId122" Type="http://schemas.openxmlformats.org/officeDocument/2006/relationships/font" Target="fonts/Corbel-bold.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2e3aedde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2e3aedde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2e3aeddeb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2e3aeddeb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2e3aedde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2e3aedde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2e3aeddeb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2e3aeddeb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347b612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347b612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347b612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347b612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c81c901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c81c901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c81c901a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c81c901a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c81c901a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c81c901a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c81c901a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c81c901a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4ed62392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4ed62392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e4ed62392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e4ed62392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4ed62392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4ed62392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4ed62392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4ed62392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2e3aedde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2e3aedde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2e3aedde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2e3aedde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Most problems are found by their impact , either on the final product or the build process itself</a:t>
            </a:r>
            <a:endParaRPr/>
          </a:p>
          <a:p>
            <a:pPr indent="0" lvl="0" marL="0" rtl="0" algn="l">
              <a:spcBef>
                <a:spcPts val="0"/>
              </a:spcBef>
              <a:spcAft>
                <a:spcPts val="0"/>
              </a:spcAft>
              <a:buNone/>
            </a:pPr>
            <a:r>
              <a:rPr lang="pt-PT"/>
              <a:t>These problems can be general availability issues, integrity issues, leakage, or general security issues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4ed62392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e4ed62392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Most problems are found by their impact , either on the final product or the build process itself</a:t>
            </a:r>
            <a:endParaRPr/>
          </a:p>
          <a:p>
            <a:pPr indent="0" lvl="0" marL="0" rtl="0" algn="l">
              <a:spcBef>
                <a:spcPts val="0"/>
              </a:spcBef>
              <a:spcAft>
                <a:spcPts val="0"/>
              </a:spcAft>
              <a:buNone/>
            </a:pPr>
            <a:r>
              <a:rPr lang="pt-PT"/>
              <a:t>These problems can be general availability issues, integrity issues, leakage, or general security issues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2e3aeddeb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e2e3aeddeb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these issues typically come from de CI part of the process, as they often come from misconfigurations, bad third party inclusions, etc.</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4ed62392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4ed62392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these issues typically come from de CI part of the process, as they often come from misconfigurations, bad third party inclusions, etc.</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c81c901a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c81c901a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these issues typically come from de CI part of the process, as they often come from misconfigurations, bad third party inclusions, etc.</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e2e3aedde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e2e3aedde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347b612b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e347b612b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347b612b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347b612b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isolation methods often rely on shared data and weak isolation methods, which in term makes the solution not particularly strong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e347b612b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e347b612b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These isolated environments are also an added configuration, which also poses as a problem, because we cannot fix poorly configured workflows with more configuration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e347b612b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e347b612b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there’s also plenty of work which focuses on vulnerability detection in the workflow definition, however….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347b612b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347b612b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This leads to more configuration, which is, once again, part of the problem</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ec81c901a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ec81c901a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This leads to more configuration, which is, once again, part of the problem</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c81c901a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c81c901a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This leads to more configuration, which is, once again, part of the problem</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e347b612b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e347b612b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there has also been work in provenance tracking, which helps in regards to pointing fingers in regards to who may </a:t>
            </a:r>
            <a:r>
              <a:rPr lang="pt-PT"/>
              <a:t>have broken the build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347b612b5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e347b612b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they assume the correctness of the workflow, or, moreover, that the environment of the workflow is not compromised, which is often not the case </a:t>
            </a:r>
            <a:r>
              <a:rPr lang="pt-PT"/>
              <a:t>because, once again, workflows tend to be configured poorly and executed in overly permissive environments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ea2fd4370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ea2fd4370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however, they assume the correctness of the workflow, or, moreover, that the environment of the workflow is not compromised, which is often not the case because, once again, workflows tend to be configured poorly and executed in overly permissive environments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347b612b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e347b612b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2e3aedde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2e3aedde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well, what if we force isolation?</a:t>
            </a:r>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347b612b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347b612b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for starters, we don’t have to verify if the workflow does </a:t>
            </a:r>
            <a:r>
              <a:rPr lang="pt-PT"/>
              <a:t>anything</a:t>
            </a:r>
            <a:r>
              <a:rPr lang="pt-PT"/>
              <a:t> malicious or not, because it is running in a bubble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e347b612b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e347b612b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additionally, less values will be shared between workflows, as each have their own bubbles -&gt; this means that there is less chance for poisoning or leakage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a2fd4370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ea2fd4370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additionally, less values will be shared between workflows, as each have their own bubbles -&gt; this means that there is less chance for poisoning or leakage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347b612b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e347b612b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additionally, by forcing isolation, isolation will not be configured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347b612b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e347b612b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nor an opt-in situation, meaning that the weakest link will, hopefully, be as strong as every other link</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ea2fd4370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ea2fd4370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PT"/>
              <a:t>nor an opt-in situation, meaning that the weakest link will, hopefully, be as strong as every other link</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e347b612b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e347b612b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e2e3aeddeb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e2e3aeddeb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e347b612b5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e347b612b5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ea2fd4370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ea2fd4370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347b612b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e347b612b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347b612b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e347b612b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347b612b5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347b612b5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347b612b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e347b612b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e347b612b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e347b612b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347b612b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e347b612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e347b612b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e347b612b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347b612b5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e347b612b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347b612b5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347b612b5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347b612b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e347b612b5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e347b612b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e347b612b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e347b612b5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e347b612b5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e347b612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e347b612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347b612b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e347b612b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ec81c901a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ec81c901a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ec81c901a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ec81c901a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ec81c901a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ec81c901a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e347b612b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e347b612b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e6e2fc3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ee6e2fc3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e6e2fc3a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ee6e2fc3a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e6e2fc3a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ee6e2fc3a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ee6e2fc3a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ee6e2fc3a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347b612b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347b612b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347b612b5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347b612b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e347b612b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e347b612b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347b612b5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e347b612b5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e347b612b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e347b612b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e347b612b5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e347b612b5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e347b612b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e347b612b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e4ed6239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e4ed6239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e347b612b5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e347b612b5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347b612b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e347b612b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e347b612b5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3e347b612b5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e4ed62392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e4ed62392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347b612b5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e347b612b5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2e3aeddeb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e2e3aeddeb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e347b612b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e347b612b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347b612b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e347b612b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e347b612b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e347b612b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e347b612b5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e347b612b5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ec81c901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ec81c901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ec81c901a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ec81c901a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ec81c901a5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ec81c901a5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c81c901a5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ec81c901a5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ec81c901a5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ec81c901a5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3ec81c901a5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3ec81c901a5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e347b612b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e347b612b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ea2fd437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ea2fd437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4874c1b4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3e4874c1b4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4874c1b4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e4874c1b4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e4874c1b4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e4874c1b4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ec81c901a5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3ec81c901a5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4874c1b4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e4874c1b4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e4874c1b4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3e4874c1b4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e4874c1b4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e4874c1b4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e4874c1b4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e4874c1b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e4874c1b4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e4874c1b4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e4874c1b4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e4874c1b4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e2e3aedde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e2e3aedde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e4874c1b4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e4874c1b4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4874c1b4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e4874c1b4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e4874c1b4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e4874c1b4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e4874c1b4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3e4874c1b4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e4874c1b4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3e4874c1b4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e4874c1b4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3e4874c1b4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4874c1b4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e4874c1b4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e4874c1b4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3e4874c1b4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e4874c1b4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e4874c1b4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e4874c1b4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e4874c1b4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e4874c1b4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e4874c1b4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6.png"/><Relationship Id="rId10" Type="http://schemas.openxmlformats.org/officeDocument/2006/relationships/image" Target="../media/image14.png"/><Relationship Id="rId21" Type="http://schemas.openxmlformats.org/officeDocument/2006/relationships/image" Target="../media/image22.png"/><Relationship Id="rId13" Type="http://schemas.openxmlformats.org/officeDocument/2006/relationships/image" Target="../media/image12.png"/><Relationship Id="rId12" Type="http://schemas.openxmlformats.org/officeDocument/2006/relationships/image" Target="../media/image3.png"/><Relationship Id="rId1" Type="http://schemas.openxmlformats.org/officeDocument/2006/relationships/slideMaster" Target="../slideMasters/slideMaster1.xml"/><Relationship Id="rId2" Type="http://schemas.openxmlformats.org/officeDocument/2006/relationships/image" Target="../media/image16.jpg"/><Relationship Id="rId3" Type="http://schemas.openxmlformats.org/officeDocument/2006/relationships/image" Target="../media/image5.png"/><Relationship Id="rId4" Type="http://schemas.openxmlformats.org/officeDocument/2006/relationships/image" Target="../media/image18.png"/><Relationship Id="rId9" Type="http://schemas.openxmlformats.org/officeDocument/2006/relationships/image" Target="../media/image37.png"/><Relationship Id="rId15" Type="http://schemas.openxmlformats.org/officeDocument/2006/relationships/image" Target="../media/image10.png"/><Relationship Id="rId14" Type="http://schemas.openxmlformats.org/officeDocument/2006/relationships/image" Target="../media/image9.png"/><Relationship Id="rId17" Type="http://schemas.openxmlformats.org/officeDocument/2006/relationships/image" Target="../media/image19.png"/><Relationship Id="rId16" Type="http://schemas.openxmlformats.org/officeDocument/2006/relationships/image" Target="../media/image7.png"/><Relationship Id="rId5" Type="http://schemas.openxmlformats.org/officeDocument/2006/relationships/image" Target="../media/image4.png"/><Relationship Id="rId19" Type="http://schemas.openxmlformats.org/officeDocument/2006/relationships/image" Target="../media/image30.png"/><Relationship Id="rId6" Type="http://schemas.openxmlformats.org/officeDocument/2006/relationships/image" Target="../media/image13.png"/><Relationship Id="rId18" Type="http://schemas.openxmlformats.org/officeDocument/2006/relationships/image" Target="../media/image26.png"/><Relationship Id="rId7" Type="http://schemas.openxmlformats.org/officeDocument/2006/relationships/image" Target="../media/image8.png"/><Relationship Id="rId8"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o de Título" type="title">
  <p:cSld name="TITLE">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orbel"/>
              <a:buNone/>
              <a:defRPr b="1"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 name="Google Shape;16;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7" name="Google Shape;17;p2"/>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 name="Google Shape;18;p2"/>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Objeto"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 name="Google Shape;21;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 name="Google Shape;22;p3"/>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3" name="Google Shape;23;p3"/>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cção"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623888" y="1282305"/>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orbel"/>
              <a:buNone/>
              <a:defRPr b="1"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 name="Google Shape;26;p4"/>
          <p:cNvSpPr txBox="1"/>
          <p:nvPr>
            <p:ph idx="1" type="body"/>
          </p:nvPr>
        </p:nvSpPr>
        <p:spPr>
          <a:xfrm>
            <a:off x="623888" y="3442099"/>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 name="Google Shape;27;p4"/>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Google Shape;28;p4"/>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Duplo"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Google Shape;31;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Google Shape;32;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5"/>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Google Shape;34;p5"/>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35" name="Shape 35"/>
        <p:cNvGrpSpPr/>
        <p:nvPr/>
      </p:nvGrpSpPr>
      <p:grpSpPr>
        <a:xfrm>
          <a:off x="0" y="0"/>
          <a:ext cx="0" cy="0"/>
          <a:chOff x="0" y="0"/>
          <a:chExt cx="0" cy="0"/>
        </a:xfrm>
      </p:grpSpPr>
      <p:sp>
        <p:nvSpPr>
          <p:cNvPr id="36" name="Google Shape;36;p6"/>
          <p:cNvSpPr txBox="1"/>
          <p:nvPr>
            <p:ph type="title"/>
          </p:nvPr>
        </p:nvSpPr>
        <p:spPr>
          <a:xfrm>
            <a:off x="629841"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6"/>
          <p:cNvSpPr txBox="1"/>
          <p:nvPr>
            <p:ph idx="1" type="body"/>
          </p:nvPr>
        </p:nvSpPr>
        <p:spPr>
          <a:xfrm>
            <a:off x="629842"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8" name="Google Shape;38;p6"/>
          <p:cNvSpPr txBox="1"/>
          <p:nvPr>
            <p:ph idx="2" type="body"/>
          </p:nvPr>
        </p:nvSpPr>
        <p:spPr>
          <a:xfrm>
            <a:off x="629842"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 name="Google Shape;39;p6"/>
          <p:cNvSpPr txBox="1"/>
          <p:nvPr>
            <p:ph idx="3" type="body"/>
          </p:nvPr>
        </p:nvSpPr>
        <p:spPr>
          <a:xfrm>
            <a:off x="4629151"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0" name="Google Shape;40;p6"/>
          <p:cNvSpPr txBox="1"/>
          <p:nvPr>
            <p:ph idx="4" type="body"/>
          </p:nvPr>
        </p:nvSpPr>
        <p:spPr>
          <a:xfrm>
            <a:off x="4629151"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 name="Google Shape;41;p6"/>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2" name="Google Shape;42;p6"/>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 Título" type="titleOnly">
  <p:cSld name="TITLE_ONLY">
    <p:spTree>
      <p:nvGrpSpPr>
        <p:cNvPr id="43" name="Shape 43"/>
        <p:cNvGrpSpPr/>
        <p:nvPr/>
      </p:nvGrpSpPr>
      <p:grpSpPr>
        <a:xfrm>
          <a:off x="0" y="0"/>
          <a:ext cx="0" cy="0"/>
          <a:chOff x="0" y="0"/>
          <a:chExt cx="0" cy="0"/>
        </a:xfrm>
      </p:grpSpPr>
      <p:sp>
        <p:nvSpPr>
          <p:cNvPr id="44" name="Google Shape;44;p7"/>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7"/>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6" name="Google Shape;46;p7"/>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47" name="Shape 47"/>
        <p:cNvGrpSpPr/>
        <p:nvPr/>
      </p:nvGrpSpPr>
      <p:grpSpPr>
        <a:xfrm>
          <a:off x="0" y="0"/>
          <a:ext cx="0" cy="0"/>
          <a:chOff x="0" y="0"/>
          <a:chExt cx="0" cy="0"/>
        </a:xfrm>
      </p:grpSpPr>
      <p:sp>
        <p:nvSpPr>
          <p:cNvPr id="48" name="Google Shape;48;p8"/>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Google Shape;49;p8"/>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orbel"/>
              <a:buNone/>
              <a:defRPr b="1"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2" name="Google Shape;52;p9"/>
          <p:cNvSpPr txBox="1"/>
          <p:nvPr>
            <p:ph idx="1" type="body"/>
          </p:nvPr>
        </p:nvSpPr>
        <p:spPr>
          <a:xfrm>
            <a:off x="3887391" y="740570"/>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3" name="Google Shape;53;p9"/>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4" name="Google Shape;54;p9"/>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5" name="Google Shape;55;p9"/>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56" name="Shape 56"/>
        <p:cNvGrpSpPr/>
        <p:nvPr/>
      </p:nvGrpSpPr>
      <p:grpSpPr>
        <a:xfrm>
          <a:off x="0" y="0"/>
          <a:ext cx="0" cy="0"/>
          <a:chOff x="0" y="0"/>
          <a:chExt cx="0" cy="0"/>
        </a:xfrm>
      </p:grpSpPr>
      <p:sp>
        <p:nvSpPr>
          <p:cNvPr id="57" name="Google Shape;57;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orbel"/>
              <a:buNone/>
              <a:defRPr b="1"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0"/>
          <p:cNvSpPr/>
          <p:nvPr>
            <p:ph idx="2" type="pic"/>
          </p:nvPr>
        </p:nvSpPr>
        <p:spPr>
          <a:xfrm>
            <a:off x="3887391" y="740570"/>
            <a:ext cx="4629300" cy="3655200"/>
          </a:xfrm>
          <a:prstGeom prst="rect">
            <a:avLst/>
          </a:prstGeom>
          <a:noFill/>
          <a:ln>
            <a:noFill/>
          </a:ln>
        </p:spPr>
      </p:sp>
      <p:sp>
        <p:nvSpPr>
          <p:cNvPr id="59" name="Google Shape;59;p10"/>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0" name="Google Shape;60;p10"/>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0"/>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62" name="Shape 62"/>
        <p:cNvGrpSpPr/>
        <p:nvPr/>
      </p:nvGrpSpPr>
      <p:grpSpPr>
        <a:xfrm>
          <a:off x="0" y="0"/>
          <a:ext cx="0" cy="0"/>
          <a:chOff x="0" y="0"/>
          <a:chExt cx="0" cy="0"/>
        </a:xfrm>
      </p:grpSpPr>
      <p:sp>
        <p:nvSpPr>
          <p:cNvPr id="63" name="Google Shape;63;p11"/>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1"/>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1"/>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e Texto" type="vertTitleAndTx">
  <p:cSld name="VERTICAL_TITLE_AND_VERTICAL_TEXT">
    <p:spTree>
      <p:nvGrpSpPr>
        <p:cNvPr id="67" name="Shape 67"/>
        <p:cNvGrpSpPr/>
        <p:nvPr/>
      </p:nvGrpSpPr>
      <p:grpSpPr>
        <a:xfrm>
          <a:off x="0" y="0"/>
          <a:ext cx="0" cy="0"/>
          <a:chOff x="0" y="0"/>
          <a:chExt cx="0" cy="0"/>
        </a:xfrm>
      </p:grpSpPr>
      <p:sp>
        <p:nvSpPr>
          <p:cNvPr id="68" name="Google Shape;68;p12"/>
          <p:cNvSpPr txBox="1"/>
          <p:nvPr>
            <p:ph type="title"/>
          </p:nvPr>
        </p:nvSpPr>
        <p:spPr>
          <a:xfrm rot="5400000">
            <a:off x="5350051"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3300"/>
              <a:buFont typeface="Corbel"/>
              <a:buNone/>
              <a:defRPr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2"/>
          <p:cNvSpPr txBox="1"/>
          <p:nvPr>
            <p:ph idx="1" type="body"/>
          </p:nvPr>
        </p:nvSpPr>
        <p:spPr>
          <a:xfrm rot="5400000">
            <a:off x="1349476"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2"/>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2"/>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ners">
  <p:cSld name="Partners">
    <p:spTree>
      <p:nvGrpSpPr>
        <p:cNvPr id="72" name="Shape 72"/>
        <p:cNvGrpSpPr/>
        <p:nvPr/>
      </p:nvGrpSpPr>
      <p:grpSpPr>
        <a:xfrm>
          <a:off x="0" y="0"/>
          <a:ext cx="0" cy="0"/>
          <a:chOff x="0" y="0"/>
          <a:chExt cx="0" cy="0"/>
        </a:xfrm>
      </p:grpSpPr>
      <p:sp>
        <p:nvSpPr>
          <p:cNvPr id="73" name="Google Shape;73;p13"/>
          <p:cNvSpPr txBox="1"/>
          <p:nvPr/>
        </p:nvSpPr>
        <p:spPr>
          <a:xfrm>
            <a:off x="1563975" y="4110743"/>
            <a:ext cx="7164600" cy="5133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chemeClr val="dk1"/>
              </a:buClr>
              <a:buSzPts val="1100"/>
              <a:buFont typeface="Arial"/>
              <a:buNone/>
            </a:pPr>
            <a:r>
              <a:rPr lang="pt-PT" sz="1100">
                <a:solidFill>
                  <a:schemeClr val="dk1"/>
                </a:solidFill>
                <a:latin typeface="Corbel"/>
                <a:ea typeface="Corbel"/>
                <a:cs typeface="Corbel"/>
                <a:sym typeface="Corbel"/>
              </a:rPr>
              <a:t>This project has received funding from the European Union's Horizon 2020 research and innovation programme under grant agreement No 856709.</a:t>
            </a:r>
            <a:endParaRPr sz="1100"/>
          </a:p>
        </p:txBody>
      </p:sp>
      <p:pic>
        <p:nvPicPr>
          <p:cNvPr descr="https://europa.eu/european-union/sites/europaeu/files/docs/body/flag_yellow_high.jpg" id="74" name="Google Shape;74;p13"/>
          <p:cNvPicPr preferRelativeResize="0"/>
          <p:nvPr/>
        </p:nvPicPr>
        <p:blipFill rotWithShape="1">
          <a:blip r:embed="rId2">
            <a:alphaModFix/>
          </a:blip>
          <a:srcRect b="0" l="0" r="0" t="0"/>
          <a:stretch/>
        </p:blipFill>
        <p:spPr>
          <a:xfrm>
            <a:off x="989341" y="4181758"/>
            <a:ext cx="556629" cy="371258"/>
          </a:xfrm>
          <a:prstGeom prst="rect">
            <a:avLst/>
          </a:prstGeom>
          <a:noFill/>
          <a:ln>
            <a:noFill/>
          </a:ln>
        </p:spPr>
      </p:pic>
      <p:pic>
        <p:nvPicPr>
          <p:cNvPr descr="A close up of a sign&#10;&#10;Description automatically generated" id="75" name="Google Shape;75;p13"/>
          <p:cNvPicPr preferRelativeResize="0"/>
          <p:nvPr/>
        </p:nvPicPr>
        <p:blipFill rotWithShape="1">
          <a:blip r:embed="rId3">
            <a:alphaModFix/>
          </a:blip>
          <a:srcRect b="0" l="0" r="0" t="0"/>
          <a:stretch/>
        </p:blipFill>
        <p:spPr>
          <a:xfrm>
            <a:off x="2384732" y="1500748"/>
            <a:ext cx="524184" cy="524184"/>
          </a:xfrm>
          <a:prstGeom prst="rect">
            <a:avLst/>
          </a:prstGeom>
          <a:noFill/>
          <a:ln>
            <a:noFill/>
          </a:ln>
        </p:spPr>
      </p:pic>
      <p:pic>
        <p:nvPicPr>
          <p:cNvPr descr="A close up of a logo&#10;&#10;Description automatically generated" id="76" name="Google Shape;76;p13"/>
          <p:cNvPicPr preferRelativeResize="0"/>
          <p:nvPr/>
        </p:nvPicPr>
        <p:blipFill rotWithShape="1">
          <a:blip r:embed="rId4">
            <a:alphaModFix/>
          </a:blip>
          <a:srcRect b="0" l="0" r="0" t="0"/>
          <a:stretch/>
        </p:blipFill>
        <p:spPr>
          <a:xfrm>
            <a:off x="2584920" y="3060202"/>
            <a:ext cx="647990" cy="178846"/>
          </a:xfrm>
          <a:prstGeom prst="rect">
            <a:avLst/>
          </a:prstGeom>
          <a:noFill/>
          <a:ln>
            <a:noFill/>
          </a:ln>
        </p:spPr>
      </p:pic>
      <p:pic>
        <p:nvPicPr>
          <p:cNvPr descr="A close up of a logo&#10;&#10;Description automatically generated" id="77" name="Google Shape;77;p13"/>
          <p:cNvPicPr preferRelativeResize="0"/>
          <p:nvPr/>
        </p:nvPicPr>
        <p:blipFill rotWithShape="1">
          <a:blip r:embed="rId5">
            <a:alphaModFix/>
          </a:blip>
          <a:srcRect b="0" l="0" r="0" t="0"/>
          <a:stretch/>
        </p:blipFill>
        <p:spPr>
          <a:xfrm>
            <a:off x="5098309" y="2444508"/>
            <a:ext cx="738196" cy="196723"/>
          </a:xfrm>
          <a:prstGeom prst="rect">
            <a:avLst/>
          </a:prstGeom>
          <a:noFill/>
          <a:ln>
            <a:noFill/>
          </a:ln>
        </p:spPr>
      </p:pic>
      <p:pic>
        <p:nvPicPr>
          <p:cNvPr descr="A close up of a logo&#10;&#10;Description automatically generated" id="78" name="Google Shape;78;p13"/>
          <p:cNvPicPr preferRelativeResize="0"/>
          <p:nvPr/>
        </p:nvPicPr>
        <p:blipFill rotWithShape="1">
          <a:blip r:embed="rId6">
            <a:alphaModFix/>
          </a:blip>
          <a:srcRect b="0" l="0" r="0" t="0"/>
          <a:stretch/>
        </p:blipFill>
        <p:spPr>
          <a:xfrm>
            <a:off x="4388419" y="1507927"/>
            <a:ext cx="452830" cy="640208"/>
          </a:xfrm>
          <a:prstGeom prst="rect">
            <a:avLst/>
          </a:prstGeom>
          <a:noFill/>
          <a:ln>
            <a:noFill/>
          </a:ln>
        </p:spPr>
      </p:pic>
      <p:pic>
        <p:nvPicPr>
          <p:cNvPr id="79" name="Google Shape;79;p13"/>
          <p:cNvPicPr preferRelativeResize="0"/>
          <p:nvPr/>
        </p:nvPicPr>
        <p:blipFill rotWithShape="1">
          <a:blip r:embed="rId7">
            <a:alphaModFix/>
          </a:blip>
          <a:srcRect b="0" l="0" r="0" t="0"/>
          <a:stretch/>
        </p:blipFill>
        <p:spPr>
          <a:xfrm>
            <a:off x="1358929" y="2252348"/>
            <a:ext cx="745897" cy="527516"/>
          </a:xfrm>
          <a:prstGeom prst="rect">
            <a:avLst/>
          </a:prstGeom>
          <a:noFill/>
          <a:ln>
            <a:noFill/>
          </a:ln>
        </p:spPr>
      </p:pic>
      <p:pic>
        <p:nvPicPr>
          <p:cNvPr id="80" name="Google Shape;80;p13"/>
          <p:cNvPicPr preferRelativeResize="0"/>
          <p:nvPr/>
        </p:nvPicPr>
        <p:blipFill rotWithShape="1">
          <a:blip r:embed="rId8">
            <a:alphaModFix/>
          </a:blip>
          <a:srcRect b="0" l="0" r="0" t="0"/>
          <a:stretch/>
        </p:blipFill>
        <p:spPr>
          <a:xfrm>
            <a:off x="5051996" y="3032548"/>
            <a:ext cx="948070" cy="245853"/>
          </a:xfrm>
          <a:prstGeom prst="rect">
            <a:avLst/>
          </a:prstGeom>
          <a:noFill/>
          <a:ln>
            <a:noFill/>
          </a:ln>
        </p:spPr>
      </p:pic>
      <p:pic>
        <p:nvPicPr>
          <p:cNvPr descr="A picture containing object&#10;&#10;Description automatically generated" id="81" name="Google Shape;81;p13"/>
          <p:cNvPicPr preferRelativeResize="0"/>
          <p:nvPr/>
        </p:nvPicPr>
        <p:blipFill rotWithShape="1">
          <a:blip r:embed="rId9">
            <a:alphaModFix/>
          </a:blip>
          <a:srcRect b="0" l="0" r="0" t="0"/>
          <a:stretch/>
        </p:blipFill>
        <p:spPr>
          <a:xfrm>
            <a:off x="3066482" y="3516610"/>
            <a:ext cx="647995" cy="234276"/>
          </a:xfrm>
          <a:prstGeom prst="rect">
            <a:avLst/>
          </a:prstGeom>
          <a:noFill/>
          <a:ln>
            <a:noFill/>
          </a:ln>
        </p:spPr>
      </p:pic>
      <p:pic>
        <p:nvPicPr>
          <p:cNvPr id="82" name="Google Shape;82;p13"/>
          <p:cNvPicPr preferRelativeResize="0"/>
          <p:nvPr/>
        </p:nvPicPr>
        <p:blipFill rotWithShape="1">
          <a:blip r:embed="rId10">
            <a:alphaModFix/>
          </a:blip>
          <a:srcRect b="0" l="0" r="0" t="0"/>
          <a:stretch/>
        </p:blipFill>
        <p:spPr>
          <a:xfrm>
            <a:off x="5388128" y="1481737"/>
            <a:ext cx="553314" cy="640000"/>
          </a:xfrm>
          <a:prstGeom prst="rect">
            <a:avLst/>
          </a:prstGeom>
          <a:noFill/>
          <a:ln>
            <a:noFill/>
          </a:ln>
        </p:spPr>
      </p:pic>
      <p:pic>
        <p:nvPicPr>
          <p:cNvPr descr="A close up of a logo&#10;&#10;Description automatically generated" id="83" name="Google Shape;83;p13"/>
          <p:cNvPicPr preferRelativeResize="0"/>
          <p:nvPr/>
        </p:nvPicPr>
        <p:blipFill rotWithShape="1">
          <a:blip r:embed="rId11">
            <a:alphaModFix/>
          </a:blip>
          <a:srcRect b="0" l="0" r="0" t="0"/>
          <a:stretch/>
        </p:blipFill>
        <p:spPr>
          <a:xfrm>
            <a:off x="3390477" y="2383235"/>
            <a:ext cx="1303051" cy="265742"/>
          </a:xfrm>
          <a:prstGeom prst="rect">
            <a:avLst/>
          </a:prstGeom>
          <a:noFill/>
          <a:ln>
            <a:noFill/>
          </a:ln>
        </p:spPr>
      </p:pic>
      <p:pic>
        <p:nvPicPr>
          <p:cNvPr descr="A close up of a logo&#10;&#10;Description automatically generated" id="84" name="Google Shape;84;p13"/>
          <p:cNvPicPr preferRelativeResize="0"/>
          <p:nvPr/>
        </p:nvPicPr>
        <p:blipFill rotWithShape="1">
          <a:blip r:embed="rId12">
            <a:alphaModFix/>
          </a:blip>
          <a:srcRect b="0" l="0" r="0" t="0"/>
          <a:stretch/>
        </p:blipFill>
        <p:spPr>
          <a:xfrm>
            <a:off x="3601593" y="3083429"/>
            <a:ext cx="996044" cy="186758"/>
          </a:xfrm>
          <a:prstGeom prst="rect">
            <a:avLst/>
          </a:prstGeom>
          <a:noFill/>
          <a:ln>
            <a:noFill/>
          </a:ln>
        </p:spPr>
      </p:pic>
      <p:pic>
        <p:nvPicPr>
          <p:cNvPr descr="A close up of a logo&#10;&#10;Description automatically generated" id="85" name="Google Shape;85;p13"/>
          <p:cNvPicPr preferRelativeResize="0"/>
          <p:nvPr/>
        </p:nvPicPr>
        <p:blipFill rotWithShape="1">
          <a:blip r:embed="rId13">
            <a:alphaModFix/>
          </a:blip>
          <a:srcRect b="0" l="0" r="0" t="0"/>
          <a:stretch/>
        </p:blipFill>
        <p:spPr>
          <a:xfrm>
            <a:off x="1230338" y="3018055"/>
            <a:ext cx="1003079" cy="245853"/>
          </a:xfrm>
          <a:prstGeom prst="rect">
            <a:avLst/>
          </a:prstGeom>
          <a:noFill/>
          <a:ln>
            <a:noFill/>
          </a:ln>
        </p:spPr>
      </p:pic>
      <p:pic>
        <p:nvPicPr>
          <p:cNvPr id="86" name="Google Shape;86;p13"/>
          <p:cNvPicPr preferRelativeResize="0"/>
          <p:nvPr/>
        </p:nvPicPr>
        <p:blipFill rotWithShape="1">
          <a:blip r:embed="rId14">
            <a:alphaModFix/>
          </a:blip>
          <a:srcRect b="0" l="0" r="0" t="0"/>
          <a:stretch/>
        </p:blipFill>
        <p:spPr>
          <a:xfrm>
            <a:off x="2303771" y="2346734"/>
            <a:ext cx="686105" cy="393446"/>
          </a:xfrm>
          <a:prstGeom prst="rect">
            <a:avLst/>
          </a:prstGeom>
          <a:noFill/>
          <a:ln>
            <a:noFill/>
          </a:ln>
        </p:spPr>
      </p:pic>
      <p:pic>
        <p:nvPicPr>
          <p:cNvPr descr="A picture containing clipart&#10;&#10;Description automatically generated" id="87" name="Google Shape;87;p13"/>
          <p:cNvPicPr preferRelativeResize="0"/>
          <p:nvPr/>
        </p:nvPicPr>
        <p:blipFill rotWithShape="1">
          <a:blip r:embed="rId15">
            <a:alphaModFix/>
          </a:blip>
          <a:srcRect b="0" l="0" r="0" t="0"/>
          <a:stretch/>
        </p:blipFill>
        <p:spPr>
          <a:xfrm>
            <a:off x="4362146" y="3567419"/>
            <a:ext cx="505374" cy="137221"/>
          </a:xfrm>
          <a:prstGeom prst="rect">
            <a:avLst/>
          </a:prstGeom>
          <a:noFill/>
          <a:ln>
            <a:noFill/>
          </a:ln>
        </p:spPr>
      </p:pic>
      <p:pic>
        <p:nvPicPr>
          <p:cNvPr descr="A close up of a logo&#10;&#10;Description automatically generated" id="88" name="Google Shape;88;p13"/>
          <p:cNvPicPr preferRelativeResize="0"/>
          <p:nvPr/>
        </p:nvPicPr>
        <p:blipFill rotWithShape="1">
          <a:blip r:embed="rId16">
            <a:alphaModFix/>
          </a:blip>
          <a:srcRect b="0" l="0" r="0" t="0"/>
          <a:stretch/>
        </p:blipFill>
        <p:spPr>
          <a:xfrm>
            <a:off x="1469786" y="1507927"/>
            <a:ext cx="524184" cy="524184"/>
          </a:xfrm>
          <a:prstGeom prst="rect">
            <a:avLst/>
          </a:prstGeom>
          <a:noFill/>
          <a:ln>
            <a:noFill/>
          </a:ln>
        </p:spPr>
      </p:pic>
      <p:pic>
        <p:nvPicPr>
          <p:cNvPr id="89" name="Google Shape;89;p13"/>
          <p:cNvPicPr preferRelativeResize="0"/>
          <p:nvPr/>
        </p:nvPicPr>
        <p:blipFill rotWithShape="1">
          <a:blip r:embed="rId17">
            <a:alphaModFix/>
          </a:blip>
          <a:srcRect b="0" l="0" r="0" t="0"/>
          <a:stretch/>
        </p:blipFill>
        <p:spPr>
          <a:xfrm>
            <a:off x="5373432" y="3532497"/>
            <a:ext cx="831968" cy="137221"/>
          </a:xfrm>
          <a:prstGeom prst="rect">
            <a:avLst/>
          </a:prstGeom>
          <a:noFill/>
          <a:ln>
            <a:noFill/>
          </a:ln>
        </p:spPr>
      </p:pic>
      <p:pic>
        <p:nvPicPr>
          <p:cNvPr descr="A close up of a logo&#10;&#10;Description automatically generated" id="90" name="Google Shape;90;p13"/>
          <p:cNvPicPr preferRelativeResize="0"/>
          <p:nvPr/>
        </p:nvPicPr>
        <p:blipFill rotWithShape="1">
          <a:blip r:embed="rId18">
            <a:alphaModFix/>
          </a:blip>
          <a:srcRect b="0" l="0" r="0" t="0"/>
          <a:stretch/>
        </p:blipFill>
        <p:spPr>
          <a:xfrm>
            <a:off x="6488323" y="1508134"/>
            <a:ext cx="524962" cy="640000"/>
          </a:xfrm>
          <a:prstGeom prst="rect">
            <a:avLst/>
          </a:prstGeom>
          <a:noFill/>
          <a:ln>
            <a:noFill/>
          </a:ln>
        </p:spPr>
      </p:pic>
      <p:pic>
        <p:nvPicPr>
          <p:cNvPr id="91" name="Google Shape;91;p13"/>
          <p:cNvPicPr preferRelativeResize="0"/>
          <p:nvPr/>
        </p:nvPicPr>
        <p:blipFill rotWithShape="1">
          <a:blip r:embed="rId19">
            <a:alphaModFix/>
          </a:blip>
          <a:srcRect b="0" l="0" r="0" t="0"/>
          <a:stretch/>
        </p:blipFill>
        <p:spPr>
          <a:xfrm>
            <a:off x="6205400" y="2384353"/>
            <a:ext cx="1189300" cy="317031"/>
          </a:xfrm>
          <a:prstGeom prst="rect">
            <a:avLst/>
          </a:prstGeom>
          <a:noFill/>
          <a:ln>
            <a:noFill/>
          </a:ln>
        </p:spPr>
      </p:pic>
      <p:sp>
        <p:nvSpPr>
          <p:cNvPr id="92" name="Google Shape;92;p13"/>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3"/>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PT"/>
              <a:t>‹#›</a:t>
            </a:fld>
            <a:endParaRPr/>
          </a:p>
        </p:txBody>
      </p:sp>
      <p:pic>
        <p:nvPicPr>
          <p:cNvPr id="94" name="Google Shape;94;p13"/>
          <p:cNvPicPr preferRelativeResize="0"/>
          <p:nvPr/>
        </p:nvPicPr>
        <p:blipFill rotWithShape="1">
          <a:blip r:embed="rId20">
            <a:alphaModFix/>
          </a:blip>
          <a:srcRect b="0" l="0" r="0" t="0"/>
          <a:stretch/>
        </p:blipFill>
        <p:spPr>
          <a:xfrm>
            <a:off x="3299678" y="1539570"/>
            <a:ext cx="538986" cy="471907"/>
          </a:xfrm>
          <a:prstGeom prst="rect">
            <a:avLst/>
          </a:prstGeom>
          <a:noFill/>
          <a:ln>
            <a:noFill/>
          </a:ln>
        </p:spPr>
      </p:pic>
      <p:pic>
        <p:nvPicPr>
          <p:cNvPr id="95" name="Google Shape;95;p13"/>
          <p:cNvPicPr preferRelativeResize="0"/>
          <p:nvPr/>
        </p:nvPicPr>
        <p:blipFill rotWithShape="1">
          <a:blip r:embed="rId21">
            <a:alphaModFix/>
          </a:blip>
          <a:srcRect b="0" l="0" r="0" t="0"/>
          <a:stretch/>
        </p:blipFill>
        <p:spPr>
          <a:xfrm>
            <a:off x="6252518" y="2996168"/>
            <a:ext cx="1336150" cy="306914"/>
          </a:xfrm>
          <a:prstGeom prst="rect">
            <a:avLst/>
          </a:prstGeom>
          <a:noFill/>
          <a:ln>
            <a:noFill/>
          </a:ln>
        </p:spPr>
      </p:pic>
      <p:sp>
        <p:nvSpPr>
          <p:cNvPr id="96" name="Google Shape;96;p13"/>
          <p:cNvSpPr/>
          <p:nvPr/>
        </p:nvSpPr>
        <p:spPr>
          <a:xfrm>
            <a:off x="5309202" y="241353"/>
            <a:ext cx="2718000" cy="825900"/>
          </a:xfrm>
          <a:prstGeom prst="rect">
            <a:avLst/>
          </a:prstGeom>
          <a:solidFill>
            <a:srgbClr val="FFFFFF"/>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1.png"/><Relationship Id="rId2" Type="http://schemas.openxmlformats.org/officeDocument/2006/relationships/image" Target="../media/image20.png"/><Relationship Id="rId3" Type="http://schemas.openxmlformats.org/officeDocument/2006/relationships/image" Target="../media/image2.png"/><Relationship Id="rId4" Type="http://schemas.openxmlformats.org/officeDocument/2006/relationships/image" Target="../media/image17.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theme" Target="../theme/theme2.xml"/><Relationship Id="rId16" Type="http://schemas.openxmlformats.org/officeDocument/2006/relationships/slideLayout" Target="../slideLayouts/slideLayout12.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p:nvPr/>
        </p:nvSpPr>
        <p:spPr>
          <a:xfrm>
            <a:off x="256374" y="4754312"/>
            <a:ext cx="1371600" cy="273900"/>
          </a:xfrm>
          <a:prstGeom prst="rect">
            <a:avLst/>
          </a:prstGeom>
          <a:solidFill>
            <a:schemeClr val="lt1">
              <a:alpha val="8784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orbel"/>
              <a:ea typeface="Corbel"/>
              <a:cs typeface="Corbel"/>
              <a:sym typeface="Corbel"/>
            </a:endParaRPr>
          </a:p>
        </p:txBody>
      </p:sp>
      <p:sp>
        <p:nvSpPr>
          <p:cNvPr id="7" name="Google Shape;7;p1"/>
          <p:cNvSpPr txBox="1"/>
          <p:nvPr>
            <p:ph type="title"/>
          </p:nvPr>
        </p:nvSpPr>
        <p:spPr>
          <a:xfrm>
            <a:off x="628650" y="273845"/>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orbel"/>
              <a:buNone/>
              <a:defRPr b="1" i="0" sz="3300" u="none" cap="none" strike="noStrike">
                <a:solidFill>
                  <a:schemeClr val="dk1"/>
                </a:solidFill>
                <a:latin typeface="Corbel"/>
                <a:ea typeface="Corbel"/>
                <a:cs typeface="Corbel"/>
                <a:sym typeface="Corbe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 name="Google Shape;8;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orbel"/>
                <a:ea typeface="Corbel"/>
                <a:cs typeface="Corbel"/>
                <a:sym typeface="Corbe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orbel"/>
                <a:ea typeface="Corbel"/>
                <a:cs typeface="Corbel"/>
                <a:sym typeface="Corbe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orbel"/>
                <a:ea typeface="Corbel"/>
                <a:cs typeface="Corbel"/>
                <a:sym typeface="Corbe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orbel"/>
                <a:ea typeface="Corbel"/>
                <a:cs typeface="Corbel"/>
                <a:sym typeface="Corbel"/>
              </a:defRPr>
            </a:lvl9pPr>
          </a:lstStyle>
          <a:p/>
        </p:txBody>
      </p:sp>
      <p:sp>
        <p:nvSpPr>
          <p:cNvPr id="9" name="Google Shape;9;p1"/>
          <p:cNvSpPr txBox="1"/>
          <p:nvPr>
            <p:ph idx="11" type="ftr"/>
          </p:nvPr>
        </p:nvSpPr>
        <p:spPr>
          <a:xfrm>
            <a:off x="4572000" y="4754312"/>
            <a:ext cx="38067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AAAAAA"/>
                </a:solidFill>
                <a:latin typeface="Trebuchet MS"/>
                <a:ea typeface="Trebuchet MS"/>
                <a:cs typeface="Trebuchet MS"/>
                <a:sym typeface="Trebuchet MS"/>
              </a:defRPr>
            </a:lvl1pPr>
            <a:lvl2pPr lvl="1"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2pPr>
            <a:lvl3pPr lvl="2"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3pPr>
            <a:lvl4pPr lvl="3"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4pPr>
            <a:lvl5pPr lvl="4"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5pPr>
            <a:lvl6pPr lvl="5"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6pPr>
            <a:lvl7pPr lvl="6"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7pPr>
            <a:lvl8pPr lvl="7"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8pPr>
            <a:lvl9pPr lvl="8" marR="0" rtl="0" algn="l">
              <a:spcBef>
                <a:spcPts val="0"/>
              </a:spcBef>
              <a:spcAft>
                <a:spcPts val="0"/>
              </a:spcAft>
              <a:buSzPts val="1100"/>
              <a:buNone/>
              <a:defRPr b="0" i="0" sz="1400" u="none" cap="none" strike="noStrike">
                <a:solidFill>
                  <a:schemeClr val="dk1"/>
                </a:solidFill>
                <a:latin typeface="Corbel"/>
                <a:ea typeface="Corbel"/>
                <a:cs typeface="Corbel"/>
                <a:sym typeface="Corbel"/>
              </a:defRPr>
            </a:lvl9pPr>
          </a:lstStyle>
          <a:p/>
        </p:txBody>
      </p:sp>
      <p:sp>
        <p:nvSpPr>
          <p:cNvPr id="10" name="Google Shape;10;p1"/>
          <p:cNvSpPr txBox="1"/>
          <p:nvPr>
            <p:ph idx="12" type="sldNum"/>
          </p:nvPr>
        </p:nvSpPr>
        <p:spPr>
          <a:xfrm>
            <a:off x="8585729" y="4754312"/>
            <a:ext cx="335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015289"/>
                </a:solidFill>
                <a:latin typeface="Trebuchet MS"/>
                <a:ea typeface="Trebuchet MS"/>
                <a:cs typeface="Trebuchet MS"/>
                <a:sym typeface="Trebuchet MS"/>
              </a:defRPr>
            </a:lvl1pPr>
            <a:lvl2pPr indent="0" lvl="1" marL="0" marR="0" rtl="0" algn="r">
              <a:spcBef>
                <a:spcPts val="0"/>
              </a:spcBef>
              <a:buNone/>
              <a:defRPr b="0" i="0" sz="900" u="none" cap="none" strike="noStrike">
                <a:solidFill>
                  <a:srgbClr val="015289"/>
                </a:solidFill>
                <a:latin typeface="Trebuchet MS"/>
                <a:ea typeface="Trebuchet MS"/>
                <a:cs typeface="Trebuchet MS"/>
                <a:sym typeface="Trebuchet MS"/>
              </a:defRPr>
            </a:lvl2pPr>
            <a:lvl3pPr indent="0" lvl="2" marL="0" marR="0" rtl="0" algn="r">
              <a:spcBef>
                <a:spcPts val="0"/>
              </a:spcBef>
              <a:buNone/>
              <a:defRPr b="0" i="0" sz="900" u="none" cap="none" strike="noStrike">
                <a:solidFill>
                  <a:srgbClr val="015289"/>
                </a:solidFill>
                <a:latin typeface="Trebuchet MS"/>
                <a:ea typeface="Trebuchet MS"/>
                <a:cs typeface="Trebuchet MS"/>
                <a:sym typeface="Trebuchet MS"/>
              </a:defRPr>
            </a:lvl3pPr>
            <a:lvl4pPr indent="0" lvl="3" marL="0" marR="0" rtl="0" algn="r">
              <a:spcBef>
                <a:spcPts val="0"/>
              </a:spcBef>
              <a:buNone/>
              <a:defRPr b="0" i="0" sz="900" u="none" cap="none" strike="noStrike">
                <a:solidFill>
                  <a:srgbClr val="015289"/>
                </a:solidFill>
                <a:latin typeface="Trebuchet MS"/>
                <a:ea typeface="Trebuchet MS"/>
                <a:cs typeface="Trebuchet MS"/>
                <a:sym typeface="Trebuchet MS"/>
              </a:defRPr>
            </a:lvl4pPr>
            <a:lvl5pPr indent="0" lvl="4" marL="0" marR="0" rtl="0" algn="r">
              <a:spcBef>
                <a:spcPts val="0"/>
              </a:spcBef>
              <a:buNone/>
              <a:defRPr b="0" i="0" sz="900" u="none" cap="none" strike="noStrike">
                <a:solidFill>
                  <a:srgbClr val="015289"/>
                </a:solidFill>
                <a:latin typeface="Trebuchet MS"/>
                <a:ea typeface="Trebuchet MS"/>
                <a:cs typeface="Trebuchet MS"/>
                <a:sym typeface="Trebuchet MS"/>
              </a:defRPr>
            </a:lvl5pPr>
            <a:lvl6pPr indent="0" lvl="5" marL="0" marR="0" rtl="0" algn="r">
              <a:spcBef>
                <a:spcPts val="0"/>
              </a:spcBef>
              <a:buNone/>
              <a:defRPr b="0" i="0" sz="900" u="none" cap="none" strike="noStrike">
                <a:solidFill>
                  <a:srgbClr val="015289"/>
                </a:solidFill>
                <a:latin typeface="Trebuchet MS"/>
                <a:ea typeface="Trebuchet MS"/>
                <a:cs typeface="Trebuchet MS"/>
                <a:sym typeface="Trebuchet MS"/>
              </a:defRPr>
            </a:lvl6pPr>
            <a:lvl7pPr indent="0" lvl="6" marL="0" marR="0" rtl="0" algn="r">
              <a:spcBef>
                <a:spcPts val="0"/>
              </a:spcBef>
              <a:buNone/>
              <a:defRPr b="0" i="0" sz="900" u="none" cap="none" strike="noStrike">
                <a:solidFill>
                  <a:srgbClr val="015289"/>
                </a:solidFill>
                <a:latin typeface="Trebuchet MS"/>
                <a:ea typeface="Trebuchet MS"/>
                <a:cs typeface="Trebuchet MS"/>
                <a:sym typeface="Trebuchet MS"/>
              </a:defRPr>
            </a:lvl7pPr>
            <a:lvl8pPr indent="0" lvl="7" marL="0" marR="0" rtl="0" algn="r">
              <a:spcBef>
                <a:spcPts val="0"/>
              </a:spcBef>
              <a:buNone/>
              <a:defRPr b="0" i="0" sz="900" u="none" cap="none" strike="noStrike">
                <a:solidFill>
                  <a:srgbClr val="015289"/>
                </a:solidFill>
                <a:latin typeface="Trebuchet MS"/>
                <a:ea typeface="Trebuchet MS"/>
                <a:cs typeface="Trebuchet MS"/>
                <a:sym typeface="Trebuchet MS"/>
              </a:defRPr>
            </a:lvl8pPr>
            <a:lvl9pPr indent="0" lvl="8" marL="0" marR="0" rtl="0" algn="r">
              <a:spcBef>
                <a:spcPts val="0"/>
              </a:spcBef>
              <a:buNone/>
              <a:defRPr b="0" i="0" sz="900" u="none" cap="none" strike="noStrike">
                <a:solidFill>
                  <a:srgbClr val="015289"/>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pt-PT"/>
              <a:t>‹#›</a:t>
            </a:fld>
            <a:endParaRPr/>
          </a:p>
        </p:txBody>
      </p:sp>
      <p:pic>
        <p:nvPicPr>
          <p:cNvPr id="11" name="Google Shape;11;p1"/>
          <p:cNvPicPr preferRelativeResize="0"/>
          <p:nvPr/>
        </p:nvPicPr>
        <p:blipFill rotWithShape="1">
          <a:blip r:embed="rId2">
            <a:alphaModFix amt="50000"/>
          </a:blip>
          <a:srcRect b="0" l="0" r="0" t="0"/>
          <a:stretch/>
        </p:blipFill>
        <p:spPr>
          <a:xfrm>
            <a:off x="49333" y="4580945"/>
            <a:ext cx="1218167" cy="577418"/>
          </a:xfrm>
          <a:prstGeom prst="rect">
            <a:avLst/>
          </a:prstGeom>
          <a:noFill/>
          <a:ln>
            <a:noFill/>
          </a:ln>
        </p:spPr>
      </p:pic>
      <p:pic>
        <p:nvPicPr>
          <p:cNvPr id="12" name="Google Shape;12;p1"/>
          <p:cNvPicPr preferRelativeResize="0"/>
          <p:nvPr/>
        </p:nvPicPr>
        <p:blipFill rotWithShape="1">
          <a:blip r:embed="rId3">
            <a:alphaModFix/>
          </a:blip>
          <a:srcRect b="0" l="0" r="0" t="0"/>
          <a:stretch/>
        </p:blipFill>
        <p:spPr>
          <a:xfrm>
            <a:off x="1146020" y="4769231"/>
            <a:ext cx="1324608" cy="244006"/>
          </a:xfrm>
          <a:prstGeom prst="rect">
            <a:avLst/>
          </a:prstGeom>
          <a:noFill/>
          <a:ln>
            <a:noFill/>
          </a:ln>
        </p:spPr>
      </p:pic>
      <p:pic>
        <p:nvPicPr>
          <p:cNvPr id="13" name="Google Shape;13;p1"/>
          <p:cNvPicPr preferRelativeResize="0"/>
          <p:nvPr/>
        </p:nvPicPr>
        <p:blipFill>
          <a:blip r:embed="rId4">
            <a:alphaModFix amt="30000"/>
          </a:blip>
          <a:stretch>
            <a:fillRect/>
          </a:stretch>
        </p:blipFill>
        <p:spPr>
          <a:xfrm>
            <a:off x="2585573" y="4689904"/>
            <a:ext cx="335400" cy="3595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5.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3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type="ctrTitle"/>
          </p:nvPr>
        </p:nvSpPr>
        <p:spPr>
          <a:xfrm>
            <a:off x="1143000" y="841772"/>
            <a:ext cx="6858000" cy="1790700"/>
          </a:xfrm>
          <a:prstGeom prst="rect">
            <a:avLst/>
          </a:prstGeom>
        </p:spPr>
        <p:txBody>
          <a:bodyPr anchorCtr="0" anchor="b" bIns="34275" lIns="68575" spcFirstLastPara="1" rIns="68575" wrap="square" tIns="34275">
            <a:normAutofit fontScale="90000"/>
          </a:bodyPr>
          <a:lstStyle/>
          <a:p>
            <a:pPr indent="0" lvl="0" marL="0" rtl="0" algn="l">
              <a:spcBef>
                <a:spcPts val="0"/>
              </a:spcBef>
              <a:spcAft>
                <a:spcPts val="0"/>
              </a:spcAft>
              <a:buNone/>
            </a:pPr>
            <a:r>
              <a:rPr lang="pt-PT"/>
              <a:t>Run Builds, Not Risks: Isolation in CI/CD Workflows</a:t>
            </a:r>
            <a:endParaRPr/>
          </a:p>
        </p:txBody>
      </p:sp>
      <p:sp>
        <p:nvSpPr>
          <p:cNvPr id="102" name="Google Shape;102;p14"/>
          <p:cNvSpPr txBox="1"/>
          <p:nvPr>
            <p:ph idx="1" type="subTitle"/>
          </p:nvPr>
        </p:nvSpPr>
        <p:spPr>
          <a:xfrm>
            <a:off x="1143000" y="2776874"/>
            <a:ext cx="6858000" cy="1625700"/>
          </a:xfrm>
          <a:prstGeom prst="rect">
            <a:avLst/>
          </a:prstGeom>
        </p:spPr>
        <p:txBody>
          <a:bodyPr anchorCtr="0" anchor="t" bIns="34275" lIns="68575" spcFirstLastPara="1" rIns="68575" wrap="square" tIns="34275">
            <a:normAutofit lnSpcReduction="10000"/>
          </a:bodyPr>
          <a:lstStyle/>
          <a:p>
            <a:pPr indent="0" lvl="0" marL="0" rtl="0" algn="ctr">
              <a:spcBef>
                <a:spcPts val="800"/>
              </a:spcBef>
              <a:spcAft>
                <a:spcPts val="0"/>
              </a:spcAft>
              <a:buNone/>
            </a:pPr>
            <a:r>
              <a:rPr lang="pt-PT" sz="1700"/>
              <a:t>Sofia Vaz, V</a:t>
            </a:r>
            <a:r>
              <a:rPr lang="pt-PT" sz="1700"/>
              <a:t>ítor A. Cunha, Rui L. Aguiar</a:t>
            </a:r>
            <a:endParaRPr sz="1700"/>
          </a:p>
          <a:p>
            <a:pPr indent="0" lvl="0" marL="0" rtl="0" algn="ctr">
              <a:spcBef>
                <a:spcPts val="800"/>
              </a:spcBef>
              <a:spcAft>
                <a:spcPts val="0"/>
              </a:spcAft>
              <a:buNone/>
            </a:pPr>
            <a:r>
              <a:rPr lang="pt-PT" sz="1700"/>
              <a:t>University of Aveiro</a:t>
            </a:r>
            <a:endParaRPr sz="1700"/>
          </a:p>
          <a:p>
            <a:pPr indent="0" lvl="0" marL="0" rtl="0" algn="ctr">
              <a:spcBef>
                <a:spcPts val="800"/>
              </a:spcBef>
              <a:spcAft>
                <a:spcPts val="0"/>
              </a:spcAft>
              <a:buNone/>
            </a:pPr>
            <a:r>
              <a:rPr lang="pt-PT" sz="1700"/>
              <a:t>Instituto de Telecomunicações</a:t>
            </a:r>
            <a:endParaRPr sz="1700"/>
          </a:p>
          <a:p>
            <a:pPr indent="0" lvl="0" marL="0" rtl="0" algn="ctr">
              <a:spcBef>
                <a:spcPts val="800"/>
              </a:spcBef>
              <a:spcAft>
                <a:spcPts val="0"/>
              </a:spcAft>
              <a:buNone/>
            </a:pPr>
            <a:r>
              <a:rPr lang="pt-PT" sz="1700"/>
              <a:t>Grants no. 101139120 and no. 101179818</a:t>
            </a:r>
            <a:endParaRPr sz="1700"/>
          </a:p>
          <a:p>
            <a:pPr indent="0" lvl="0" marL="0" rtl="0" algn="ctr">
              <a:spcBef>
                <a:spcPts val="800"/>
              </a:spcBef>
              <a:spcAft>
                <a:spcPts val="0"/>
              </a:spcAft>
              <a:buNone/>
            </a:pPr>
            <a:r>
              <a:rPr lang="pt-PT" sz="1700"/>
              <a:t>Corresponding author: sofiateixeiravaz@ua.pt</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08" name="Google Shape;108;p1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14" name="Google Shape;114;p1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pic>
        <p:nvPicPr>
          <p:cNvPr id="115" name="Google Shape;115;p16"/>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116" name="Google Shape;116;p16"/>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22" name="Google Shape;122;p1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pic>
        <p:nvPicPr>
          <p:cNvPr id="123" name="Google Shape;123;p17"/>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124" name="Google Shape;124;p17"/>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125" name="Google Shape;125;p17"/>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126" name="Google Shape;126;p17"/>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127" name="Google Shape;127;p17"/>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33" name="Google Shape;133;p1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pic>
        <p:nvPicPr>
          <p:cNvPr id="134" name="Google Shape;134;p18"/>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135" name="Google Shape;135;p18"/>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136" name="Google Shape;136;p18"/>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137" name="Google Shape;137;p18"/>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138" name="Google Shape;138;p18"/>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139" name="Google Shape;139;p18"/>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140" name="Google Shape;140;p18"/>
          <p:cNvCxnSpPr>
            <a:stCxn id="136"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141" name="Google Shape;141;p18"/>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47" name="Google Shape;147;p1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pic>
        <p:nvPicPr>
          <p:cNvPr id="148" name="Google Shape;148;p19"/>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149" name="Google Shape;149;p19"/>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150" name="Google Shape;150;p19"/>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151" name="Google Shape;151;p19"/>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152" name="Google Shape;152;p19"/>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153" name="Google Shape;153;p19"/>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154" name="Google Shape;154;p19"/>
          <p:cNvCxnSpPr>
            <a:stCxn id="150"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155" name="Google Shape;155;p19"/>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156" name="Google Shape;156;p19"/>
          <p:cNvCxnSpPr/>
          <p:nvPr/>
        </p:nvCxnSpPr>
        <p:spPr>
          <a:xfrm>
            <a:off x="433150" y="4351800"/>
            <a:ext cx="4123800" cy="3600"/>
          </a:xfrm>
          <a:prstGeom prst="straightConnector1">
            <a:avLst/>
          </a:prstGeom>
          <a:noFill/>
          <a:ln cap="flat" cmpd="sng" w="9525">
            <a:solidFill>
              <a:schemeClr val="dk2"/>
            </a:solidFill>
            <a:prstDash val="solid"/>
            <a:round/>
            <a:headEnd len="med" w="med" type="none"/>
            <a:tailEnd len="med" w="med" type="none"/>
          </a:ln>
        </p:spPr>
      </p:cxnSp>
      <p:sp>
        <p:nvSpPr>
          <p:cNvPr id="157" name="Google Shape;157;p19"/>
          <p:cNvSpPr txBox="1"/>
          <p:nvPr/>
        </p:nvSpPr>
        <p:spPr>
          <a:xfrm>
            <a:off x="1923100" y="4290224"/>
            <a:ext cx="478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CI</a:t>
            </a:r>
            <a:endParaRPr sz="1600">
              <a:solidFill>
                <a:schemeClr val="dk1"/>
              </a:solidFill>
              <a:latin typeface="Corbel"/>
              <a:ea typeface="Corbel"/>
              <a:cs typeface="Corbel"/>
              <a:sym typeface="Corbe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is CI/CD?</a:t>
            </a:r>
            <a:endParaRPr/>
          </a:p>
        </p:txBody>
      </p:sp>
      <p:sp>
        <p:nvSpPr>
          <p:cNvPr id="163" name="Google Shape;163;p2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Obviously, Continuous Integration and Continuous Delivery</a:t>
            </a:r>
            <a:endParaRPr/>
          </a:p>
        </p:txBody>
      </p:sp>
      <p:pic>
        <p:nvPicPr>
          <p:cNvPr id="164" name="Google Shape;164;p20"/>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165" name="Google Shape;165;p20"/>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166" name="Google Shape;166;p20"/>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167" name="Google Shape;167;p20"/>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168" name="Google Shape;168;p20"/>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169" name="Google Shape;169;p20"/>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170" name="Google Shape;170;p20"/>
          <p:cNvCxnSpPr>
            <a:stCxn id="166"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171" name="Google Shape;171;p20"/>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172" name="Google Shape;172;p20"/>
          <p:cNvCxnSpPr/>
          <p:nvPr/>
        </p:nvCxnSpPr>
        <p:spPr>
          <a:xfrm>
            <a:off x="433150" y="4351800"/>
            <a:ext cx="4123800" cy="3600"/>
          </a:xfrm>
          <a:prstGeom prst="straightConnector1">
            <a:avLst/>
          </a:prstGeom>
          <a:noFill/>
          <a:ln cap="flat" cmpd="sng" w="9525">
            <a:solidFill>
              <a:schemeClr val="dk2"/>
            </a:solidFill>
            <a:prstDash val="solid"/>
            <a:round/>
            <a:headEnd len="med" w="med" type="none"/>
            <a:tailEnd len="med" w="med" type="none"/>
          </a:ln>
        </p:spPr>
      </p:cxnSp>
      <p:sp>
        <p:nvSpPr>
          <p:cNvPr id="173" name="Google Shape;173;p20"/>
          <p:cNvSpPr txBox="1"/>
          <p:nvPr/>
        </p:nvSpPr>
        <p:spPr>
          <a:xfrm>
            <a:off x="1923100" y="4290224"/>
            <a:ext cx="478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CI</a:t>
            </a:r>
            <a:endParaRPr sz="1600">
              <a:solidFill>
                <a:schemeClr val="dk1"/>
              </a:solidFill>
              <a:latin typeface="Corbel"/>
              <a:ea typeface="Corbel"/>
              <a:cs typeface="Corbel"/>
              <a:sym typeface="Corbel"/>
            </a:endParaRPr>
          </a:p>
        </p:txBody>
      </p:sp>
      <p:cxnSp>
        <p:nvCxnSpPr>
          <p:cNvPr id="174" name="Google Shape;174;p20"/>
          <p:cNvCxnSpPr/>
          <p:nvPr/>
        </p:nvCxnSpPr>
        <p:spPr>
          <a:xfrm>
            <a:off x="4589910" y="4360421"/>
            <a:ext cx="4123800" cy="3600"/>
          </a:xfrm>
          <a:prstGeom prst="straightConnector1">
            <a:avLst/>
          </a:prstGeom>
          <a:noFill/>
          <a:ln cap="flat" cmpd="sng" w="9525">
            <a:solidFill>
              <a:schemeClr val="dk2"/>
            </a:solidFill>
            <a:prstDash val="solid"/>
            <a:round/>
            <a:headEnd len="med" w="med" type="none"/>
            <a:tailEnd len="med" w="med" type="none"/>
          </a:ln>
        </p:spPr>
      </p:cxnSp>
      <p:sp>
        <p:nvSpPr>
          <p:cNvPr id="175" name="Google Shape;175;p20"/>
          <p:cNvSpPr txBox="1"/>
          <p:nvPr/>
        </p:nvSpPr>
        <p:spPr>
          <a:xfrm>
            <a:off x="6079860" y="4298845"/>
            <a:ext cx="4782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CD</a:t>
            </a:r>
            <a:endParaRPr sz="1600">
              <a:solidFill>
                <a:schemeClr val="dk1"/>
              </a:solidFill>
              <a:latin typeface="Corbel"/>
              <a:ea typeface="Corbel"/>
              <a:cs typeface="Corbel"/>
              <a:sym typeface="Corbe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are the positives of CI/CD?</a:t>
            </a:r>
            <a:endParaRPr/>
          </a:p>
        </p:txBody>
      </p:sp>
      <p:sp>
        <p:nvSpPr>
          <p:cNvPr id="181" name="Google Shape;181;p2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are the positives of CI/CD?</a:t>
            </a:r>
            <a:endParaRPr/>
          </a:p>
        </p:txBody>
      </p:sp>
      <p:sp>
        <p:nvSpPr>
          <p:cNvPr id="187" name="Google Shape;187;p2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Automated build, test and deploy = rapid iteration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are the positives of CI/CD?</a:t>
            </a:r>
            <a:endParaRPr/>
          </a:p>
        </p:txBody>
      </p:sp>
      <p:sp>
        <p:nvSpPr>
          <p:cNvPr id="193" name="Google Shape;193;p2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Automated build, test and deploy = rapid iteration </a:t>
            </a:r>
            <a:endParaRPr/>
          </a:p>
          <a:p>
            <a:pPr indent="0" lvl="0" marL="0" rtl="0" algn="l">
              <a:spcBef>
                <a:spcPts val="800"/>
              </a:spcBef>
              <a:spcAft>
                <a:spcPts val="0"/>
              </a:spcAft>
              <a:buNone/>
            </a:pPr>
            <a:r>
              <a:rPr lang="pt-PT"/>
              <a:t>Better developer productivity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are the positives of CI/CD?</a:t>
            </a:r>
            <a:endParaRPr/>
          </a:p>
        </p:txBody>
      </p:sp>
      <p:sp>
        <p:nvSpPr>
          <p:cNvPr id="199" name="Google Shape;199;p2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Automated build, test and deploy = rapid iteration </a:t>
            </a:r>
            <a:endParaRPr/>
          </a:p>
          <a:p>
            <a:pPr indent="0" lvl="0" marL="0" rtl="0" algn="l">
              <a:spcBef>
                <a:spcPts val="800"/>
              </a:spcBef>
              <a:spcAft>
                <a:spcPts val="0"/>
              </a:spcAft>
              <a:buNone/>
            </a:pPr>
            <a:r>
              <a:rPr lang="pt-PT"/>
              <a:t>Better developer productivity</a:t>
            </a:r>
            <a:endParaRPr/>
          </a:p>
          <a:p>
            <a:pPr indent="0" lvl="0" marL="0" rtl="0" algn="l">
              <a:spcBef>
                <a:spcPts val="800"/>
              </a:spcBef>
              <a:spcAft>
                <a:spcPts val="0"/>
              </a:spcAft>
              <a:buNone/>
            </a:pPr>
            <a:r>
              <a:rPr lang="pt-PT"/>
              <a:t>Critical to many software supply chains!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is CI/CD?</a:t>
            </a:r>
            <a:endParaRPr/>
          </a:p>
        </p:txBody>
      </p:sp>
      <p:sp>
        <p:nvSpPr>
          <p:cNvPr id="205" name="Google Shape;205;p2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is CI/CD?</a:t>
            </a:r>
            <a:endParaRPr/>
          </a:p>
        </p:txBody>
      </p:sp>
      <p:sp>
        <p:nvSpPr>
          <p:cNvPr id="211" name="Google Shape;211;p2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 kind of everywhere?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is CI/CD?</a:t>
            </a:r>
            <a:endParaRPr/>
          </a:p>
        </p:txBody>
      </p:sp>
      <p:sp>
        <p:nvSpPr>
          <p:cNvPr id="217" name="Google Shape;217;p2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 kind of everywhere?</a:t>
            </a:r>
            <a:endParaRPr/>
          </a:p>
        </p:txBody>
      </p:sp>
      <p:pic>
        <p:nvPicPr>
          <p:cNvPr id="218" name="Google Shape;218;p27"/>
          <p:cNvPicPr preferRelativeResize="0"/>
          <p:nvPr/>
        </p:nvPicPr>
        <p:blipFill>
          <a:blip r:embed="rId3">
            <a:alphaModFix/>
          </a:blip>
          <a:stretch>
            <a:fillRect/>
          </a:stretch>
        </p:blipFill>
        <p:spPr>
          <a:xfrm>
            <a:off x="3371050" y="1390025"/>
            <a:ext cx="5734325" cy="180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is CI/CD?</a:t>
            </a:r>
            <a:endParaRPr/>
          </a:p>
        </p:txBody>
      </p:sp>
      <p:sp>
        <p:nvSpPr>
          <p:cNvPr id="224" name="Google Shape;224;p2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 kind of everywhere?</a:t>
            </a:r>
            <a:endParaRPr/>
          </a:p>
        </p:txBody>
      </p:sp>
      <p:pic>
        <p:nvPicPr>
          <p:cNvPr id="225" name="Google Shape;225;p28"/>
          <p:cNvPicPr preferRelativeResize="0"/>
          <p:nvPr/>
        </p:nvPicPr>
        <p:blipFill>
          <a:blip r:embed="rId3">
            <a:alphaModFix/>
          </a:blip>
          <a:stretch>
            <a:fillRect/>
          </a:stretch>
        </p:blipFill>
        <p:spPr>
          <a:xfrm>
            <a:off x="3371050" y="1390025"/>
            <a:ext cx="5734325" cy="1803350"/>
          </a:xfrm>
          <a:prstGeom prst="rect">
            <a:avLst/>
          </a:prstGeom>
          <a:noFill/>
          <a:ln>
            <a:noFill/>
          </a:ln>
        </p:spPr>
      </p:pic>
      <p:sp>
        <p:nvSpPr>
          <p:cNvPr id="226" name="Google Shape;226;p28"/>
          <p:cNvSpPr txBox="1"/>
          <p:nvPr/>
        </p:nvSpPr>
        <p:spPr>
          <a:xfrm>
            <a:off x="628650" y="2810825"/>
            <a:ext cx="8417100" cy="1748400"/>
          </a:xfrm>
          <a:prstGeom prst="rect">
            <a:avLst/>
          </a:prstGeom>
          <a:solidFill>
            <a:srgbClr val="EFEFE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a:solidFill>
                  <a:schemeClr val="dk1"/>
                </a:solidFill>
                <a:latin typeface="Corbel"/>
                <a:ea typeface="Corbel"/>
                <a:cs typeface="Corbel"/>
                <a:sym typeface="Corbel"/>
              </a:rPr>
              <a:t>Currently, the following organizations are </a:t>
            </a:r>
            <a:r>
              <a:rPr b="1" lang="pt-PT">
                <a:solidFill>
                  <a:schemeClr val="dk1"/>
                </a:solidFill>
                <a:latin typeface="Corbel"/>
                <a:ea typeface="Corbel"/>
                <a:cs typeface="Corbel"/>
                <a:sym typeface="Corbel"/>
              </a:rPr>
              <a:t>officially</a:t>
            </a:r>
            <a:r>
              <a:rPr lang="pt-PT">
                <a:solidFill>
                  <a:schemeClr val="dk1"/>
                </a:solidFill>
                <a:latin typeface="Corbel"/>
                <a:ea typeface="Corbel"/>
                <a:cs typeface="Corbel"/>
                <a:sym typeface="Corbel"/>
              </a:rPr>
              <a:t> using Argo CD:</a:t>
            </a:r>
            <a:endParaRPr>
              <a:solidFill>
                <a:schemeClr val="dk1"/>
              </a:solidFill>
              <a:latin typeface="Corbel"/>
              <a:ea typeface="Corbel"/>
              <a:cs typeface="Corbel"/>
              <a:sym typeface="Corbel"/>
            </a:endParaRPr>
          </a:p>
          <a:p>
            <a:pPr indent="0" lvl="0" marL="0" rtl="0" algn="l">
              <a:spcBef>
                <a:spcPts val="0"/>
              </a:spcBef>
              <a:spcAft>
                <a:spcPts val="0"/>
              </a:spcAft>
              <a:buNone/>
            </a:pPr>
            <a:r>
              <a:rPr lang="pt-PT" sz="500">
                <a:solidFill>
                  <a:schemeClr val="dk1"/>
                </a:solidFill>
                <a:latin typeface="Corbel"/>
                <a:ea typeface="Corbel"/>
                <a:cs typeface="Corbel"/>
                <a:sym typeface="Corbel"/>
              </a:rPr>
              <a:t>100ms, 127Labs, 3Rein, 42 School, 4data, 7shifts, Adevinta, Adfinis, Adobe, Adventure, Adyen, AirQo, Akuity, Alarm.com, Alauda, Albert Heijn, Alibaba Group, Allianz Direct, AlphaSense, Amadeus IT Group, Ambassador Labs, Ancestry, Andgo Systems, ANSTO - Australian Synchrotron, Ant Group, AppDirect, Arcadia, Arctiq Inc., Artemis Health by Nomi Health, Arturia, ARZ Allgemeines Rechenzentrum GmbH, Augury, Autodesk, Axians ACSP, Axual B.V., Back Market, Bajaj Finserv Health Ltd., Baloise, Batumbu, BCDevExchange DevOps Platform, Beat, Beez Innovation Labs, Bedag Informatik AG, Beleza Na Web, Believable Bots, Bayer AG, BigPanda, BioBox Analytics, BMW Group, Boozt, Bosch, Boticario, Broker Consulting, a.s., Bulder Bank, Cabify, CAM, Camptocamp, Candis, Capital One, Capptain LTD, Car &amp; Classic, CARFAX Europe, CARFAX, Carrefour Group, Casavo, Celonis, CERN, Chainnodes, Chargetrip, Chime, Chronicle Labs, C.H.Robinson , Circle, Cisco ET&amp;I, Close, Cloud Posse, Cloud Scale, CloudScript, CloudGeometry, Cloudmate, Cloudogu, Cobalt, Codefresh, Codility, Cognizant, Collins Aerospace, Commonbond, Compatio.AI, Contlo, Coralogix, Crédit Agricole CIB, CROZ d.o.o., CyberAgent, Cybozu, D2iQ, DaoCloud, Datarisk, Daydream, Deloitte, Dematic, Deutsche Telekom AG, Deutsche Bank AG, Devopsi - Poland Software/DevOps Consulting, Devtron Labs, DigitalEd, DigitalOcean, Divar, Divistant, 1. [DocNetwork, Dott, Doubble, Doximity, EDF Renewables, edX, Elastic, Electronic Arts Inc., Elementor, Elium, END., Energisme, enigmo, Envoy, eSave, Etherflow, Expedia, Factorial, Farfetch, Faro, Fave, Flexport, Flip, Fly Security, Fonoa, Fortra, freee, Freshop, Inc, Future PLC, Flagler Health, G DATA CyberDefense AG, G-Research, Garner, Generali Deutschland AG, Gepardec, Getir, GetYourGuide, Gitpod, Gllue, gloat, GLOBIS, Glovo, GlueOps, GMETRI, Gojek, GoTo Financial, GoTo, Greenpass, Gridfuse, Groww, Grupo MasMovil, Handelsbanken, Hazelcast, Healy, Helio, hetao101, Hetki, hipages, Hiya, Honestbank, Hostinger, Hotjar, IABAI, IBM, Ibotta, Icelandair, IFS, IITS-Consulting, IllumiDesk, Imagine Learning, imaware, Indeed, Index Exchange, Info Support, InsideBoard, Instruqt, Intel, Intuit, IQVIA, Jellysmack, Joblift, JovianX, Kaltura, Kandji, Karrot, KarrotPay, Kasa, Kave Home, Keeeb, KelkooGroup, Keptn, Kinguin, KintoHub, KompiTech GmbH, Kong Inc., KPMG, KubeSphere, Kurly, Kvist, Kyriba, Lattice, LeFigaro, Lely, LexisNexis, Lian Chu Securities, Liatrio, Lightricks, Loom, Lucid Motors, Lytt, LY Corporation, Magic Leap, Majid Al Futtaim, Major League Baseball, Mambu, MariaDB, Mattermost, Max Kelsen, MeDirect, Meican, Meilleurs Agents, Mercedes-Benz Tech Innovation, Mercedes-Benz.io, Metacore Games, Metanet, MindSpore, Mirantis, Mission Lane, mixi Group, Moengage, Mollie, Money Forward, MongoDB, MOO Print, Mozilla, MTN Group, Municipality of The Hague, My Job Glasses, Natura &amp;Co, Netease Cloud Music, Nethopper, New Relic, Nextbasket, Nextdoor, Next Fit Sistemas, Nikkei, Nitro, NYCU, CS IT Center, Objective, OCCMundial, Octadesk, Octopus Deploy, Olfeo, omegaUp, Omni, Oncourse Home Solutions, Open Analytics, openEuler, openGauss, OpenGov, openLooKeng, OpenSaaS Studio, Opensurvey, OpsMx, OpsVerse, Optoro, Orbital Insight, Oscar Health Insurance, Outpost24, p3r, Packlink, PagerDuty, Pandosearch, Patreon, PayIt, PayPay, Paystack, Peloton Interactive, Percona, PGS, Pigment, Pipedrive, Pipefy, Pipekit, Pismo, PITS Globale Datenrettungsdienste, Platform9 Systems, Playground Tech, Polarpoint.io, Pollinate, PostFinance, Preferred Networks, Previder BV, Priceline, Procore, Productboard, Prudential, PT Boer Technology (Btech), PUBG, Puzzle ITC, Pvotal Technologies, Qonto, QuintoAndar, Quipper, RapidAPI, rebuy, Red Hat, Redpill Linpro, Reenigne Cloud, reev.com, Relex Solutions, RightRev, Rijkswaterstaat, 1. Rise, RISK IDENT, Riskified, Robotinfra, Rocket.Chat, Rogo, Rubin Observatory, Saildrone, Salad Technologies, Saloodo! GmbH, Sap Labs, SAP Signavio, Sauce Labs, Schneider Electric, Schwarz IT, SCRM Lidl International Hub, SEEK, SEKAI, Semgrep, Seznam.cz, Shield, Shipfox, Shock Media, SI Analytics, Sidewalk Entertainment, Skit, Skribble, Skyscanner, Smart Pension, Smilee.io, Smilegate Stove, Smood.ch, Snapp, Snyk, Softway Medical, Sophotech, South China Morning Post (SCMP), Speee, Spendesk, Splunk, Spores Labs, Statsig, SternumIOT, Stone Payments, StreamNative, Stuart, Sumo Logic, Sutpc, Swiss Post, Swissblock Technologies, Swisscom, Swissquote, Syncier, Synergy, Syself, T-ROC Global, TableCheck, Tailor Brands, Tamkeen Technologies, TBC Bank, Techcom Securities, Techcombank, Technacy, Telavita, Tesla, TextNow, The Scale Factory, ThousandEyes, Ticketmaster, Tiger Analytics, Tigera, Topicus.Education, Toss, Trendyol, tru.ID, Trusting Social, Twilio Segment, Twilio SendGrid, tZERO, U.S. Veterans Affairs Department, UBIO, UFirstGroup, ungleich.ch, Unifonic Inc, Universidad Mesoamericana, Upsider Inc., Urbantz, Vectra, Veepee, Verkada, Viaduct, VietMoney, Vinted, Virtuo, VISITS Technologies, Viya, Volvo Cars, Voyager Digital, VSHN - The DevOps Company, Wakacje.pl, Walkbase, Webstores, Wehkamp, WeMaintain, WeMo Scooter, Whitehat Berlin by Guido Maria Serra +Fenaroli, Witick, Wolffun Game, WooliesX, Woolworths Group, WSpot, X3M ads, Yieldlab, Youverify, Yubo, Yuno, ZDF, Zimpler, ZipRecruiter, ZOZO</a:t>
            </a:r>
            <a:endParaRPr sz="500">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sp>
        <p:nvSpPr>
          <p:cNvPr id="232" name="Google Shape;232;p2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pic>
        <p:nvPicPr>
          <p:cNvPr id="238" name="Google Shape;238;p30"/>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239" name="Google Shape;239;p30"/>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240" name="Google Shape;240;p30"/>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241" name="Google Shape;241;p30"/>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242" name="Google Shape;242;p30"/>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243" name="Google Shape;243;p30"/>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244" name="Google Shape;244;p30"/>
          <p:cNvCxnSpPr>
            <a:stCxn id="240"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245" name="Google Shape;245;p30"/>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246" name="Google Shape;246;p30"/>
          <p:cNvCxnSpPr/>
          <p:nvPr/>
        </p:nvCxnSpPr>
        <p:spPr>
          <a:xfrm flipH="1" rot="10800000">
            <a:off x="3882650" y="1779800"/>
            <a:ext cx="3969300" cy="4500"/>
          </a:xfrm>
          <a:prstGeom prst="straightConnector1">
            <a:avLst/>
          </a:prstGeom>
          <a:noFill/>
          <a:ln cap="flat" cmpd="sng" w="28575">
            <a:solidFill>
              <a:schemeClr val="dk2"/>
            </a:solidFill>
            <a:prstDash val="solid"/>
            <a:round/>
            <a:headEnd len="med" w="med" type="none"/>
            <a:tailEnd len="med" w="med" type="none"/>
          </a:ln>
        </p:spPr>
      </p:cxnSp>
      <p:sp>
        <p:nvSpPr>
          <p:cNvPr id="247" name="Google Shape;247;p30"/>
          <p:cNvSpPr txBox="1"/>
          <p:nvPr/>
        </p:nvSpPr>
        <p:spPr>
          <a:xfrm>
            <a:off x="4612800" y="1369225"/>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Where we </a:t>
            </a:r>
            <a:r>
              <a:rPr lang="pt-PT" sz="1600">
                <a:solidFill>
                  <a:schemeClr val="dk1"/>
                </a:solidFill>
                <a:latin typeface="Corbel"/>
                <a:ea typeface="Corbel"/>
                <a:cs typeface="Corbel"/>
                <a:sym typeface="Corbel"/>
              </a:rPr>
              <a:t>find the problems</a:t>
            </a:r>
            <a:endParaRPr sz="1600">
              <a:solidFill>
                <a:schemeClr val="dk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pic>
        <p:nvPicPr>
          <p:cNvPr id="253" name="Google Shape;253;p31"/>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254" name="Google Shape;254;p31"/>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255" name="Google Shape;255;p31"/>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256" name="Google Shape;256;p31"/>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257" name="Google Shape;257;p31"/>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258" name="Google Shape;258;p31"/>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259" name="Google Shape;259;p31"/>
          <p:cNvCxnSpPr>
            <a:stCxn id="255"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260" name="Google Shape;260;p31"/>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261" name="Google Shape;261;p31"/>
          <p:cNvCxnSpPr/>
          <p:nvPr/>
        </p:nvCxnSpPr>
        <p:spPr>
          <a:xfrm flipH="1" rot="10800000">
            <a:off x="3882650" y="1779800"/>
            <a:ext cx="3969300" cy="4500"/>
          </a:xfrm>
          <a:prstGeom prst="straightConnector1">
            <a:avLst/>
          </a:prstGeom>
          <a:noFill/>
          <a:ln cap="flat" cmpd="sng" w="28575">
            <a:solidFill>
              <a:schemeClr val="dk2"/>
            </a:solidFill>
            <a:prstDash val="solid"/>
            <a:round/>
            <a:headEnd len="med" w="med" type="none"/>
            <a:tailEnd len="med" w="med" type="none"/>
          </a:ln>
        </p:spPr>
      </p:cxnSp>
      <p:sp>
        <p:nvSpPr>
          <p:cNvPr id="262" name="Google Shape;262;p31"/>
          <p:cNvSpPr txBox="1"/>
          <p:nvPr/>
        </p:nvSpPr>
        <p:spPr>
          <a:xfrm>
            <a:off x="4612800" y="1369225"/>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Where we find the problems</a:t>
            </a:r>
            <a:endParaRPr sz="1600">
              <a:solidFill>
                <a:schemeClr val="dk1"/>
              </a:solidFill>
              <a:latin typeface="Corbel"/>
              <a:ea typeface="Corbel"/>
              <a:cs typeface="Corbel"/>
              <a:sym typeface="Corbel"/>
            </a:endParaRPr>
          </a:p>
        </p:txBody>
      </p:sp>
      <p:sp>
        <p:nvSpPr>
          <p:cNvPr id="263" name="Google Shape;263;p31"/>
          <p:cNvSpPr txBox="1"/>
          <p:nvPr/>
        </p:nvSpPr>
        <p:spPr>
          <a:xfrm>
            <a:off x="1110800" y="1595950"/>
            <a:ext cx="2458200" cy="22266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Availability issues</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Integrity issues</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Leakage</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Security Problems</a:t>
            </a:r>
            <a:endParaRPr sz="2100">
              <a:solidFill>
                <a:schemeClr val="dk1"/>
              </a:solidFill>
              <a:latin typeface="Corbel"/>
              <a:ea typeface="Corbel"/>
              <a:cs typeface="Corbel"/>
              <a:sym typeface="Corbe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pic>
        <p:nvPicPr>
          <p:cNvPr id="269" name="Google Shape;269;p32"/>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270" name="Google Shape;270;p32"/>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271" name="Google Shape;271;p32"/>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272" name="Google Shape;272;p32"/>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273" name="Google Shape;273;p32"/>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274" name="Google Shape;274;p32"/>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275" name="Google Shape;275;p32"/>
          <p:cNvCxnSpPr>
            <a:stCxn id="271"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276" name="Google Shape;276;p32"/>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277" name="Google Shape;277;p32"/>
          <p:cNvCxnSpPr/>
          <p:nvPr/>
        </p:nvCxnSpPr>
        <p:spPr>
          <a:xfrm flipH="1" rot="10800000">
            <a:off x="534050" y="1760900"/>
            <a:ext cx="3969300" cy="4500"/>
          </a:xfrm>
          <a:prstGeom prst="straightConnector1">
            <a:avLst/>
          </a:prstGeom>
          <a:noFill/>
          <a:ln cap="flat" cmpd="sng" w="28575">
            <a:solidFill>
              <a:schemeClr val="dk2"/>
            </a:solidFill>
            <a:prstDash val="solid"/>
            <a:round/>
            <a:headEnd len="med" w="med" type="none"/>
            <a:tailEnd len="med" w="med" type="none"/>
          </a:ln>
        </p:spPr>
      </p:cxnSp>
      <p:sp>
        <p:nvSpPr>
          <p:cNvPr id="278" name="Google Shape;278;p32"/>
          <p:cNvSpPr txBox="1"/>
          <p:nvPr/>
        </p:nvSpPr>
        <p:spPr>
          <a:xfrm>
            <a:off x="1130700" y="1350325"/>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Where problems come from</a:t>
            </a:r>
            <a:endParaRPr sz="1600">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pic>
        <p:nvPicPr>
          <p:cNvPr id="284" name="Google Shape;284;p33"/>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285" name="Google Shape;285;p33"/>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286" name="Google Shape;286;p33"/>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287" name="Google Shape;287;p33"/>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288" name="Google Shape;288;p33"/>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289" name="Google Shape;289;p33"/>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290" name="Google Shape;290;p33"/>
          <p:cNvCxnSpPr>
            <a:stCxn id="286"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291" name="Google Shape;291;p33"/>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292" name="Google Shape;292;p33"/>
          <p:cNvCxnSpPr/>
          <p:nvPr/>
        </p:nvCxnSpPr>
        <p:spPr>
          <a:xfrm flipH="1" rot="10800000">
            <a:off x="534050" y="1760900"/>
            <a:ext cx="3969300" cy="4500"/>
          </a:xfrm>
          <a:prstGeom prst="straightConnector1">
            <a:avLst/>
          </a:prstGeom>
          <a:noFill/>
          <a:ln cap="flat" cmpd="sng" w="28575">
            <a:solidFill>
              <a:schemeClr val="dk2"/>
            </a:solidFill>
            <a:prstDash val="solid"/>
            <a:round/>
            <a:headEnd len="med" w="med" type="none"/>
            <a:tailEnd len="med" w="med" type="none"/>
          </a:ln>
        </p:spPr>
      </p:cxnSp>
      <p:sp>
        <p:nvSpPr>
          <p:cNvPr id="293" name="Google Shape;293;p33"/>
          <p:cNvSpPr txBox="1"/>
          <p:nvPr/>
        </p:nvSpPr>
        <p:spPr>
          <a:xfrm>
            <a:off x="1130700" y="1350325"/>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Where problems come from</a:t>
            </a:r>
            <a:endParaRPr sz="1600">
              <a:solidFill>
                <a:schemeClr val="dk1"/>
              </a:solidFill>
              <a:latin typeface="Corbel"/>
              <a:ea typeface="Corbel"/>
              <a:cs typeface="Corbel"/>
              <a:sym typeface="Corbel"/>
            </a:endParaRPr>
          </a:p>
        </p:txBody>
      </p:sp>
      <p:sp>
        <p:nvSpPr>
          <p:cNvPr id="294" name="Google Shape;294;p33"/>
          <p:cNvSpPr txBox="1"/>
          <p:nvPr/>
        </p:nvSpPr>
        <p:spPr>
          <a:xfrm>
            <a:off x="5160200" y="1687350"/>
            <a:ext cx="2683200" cy="28887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Misconfigurations</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Bad third party inclusions </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Over privileged environments</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Weak isolation </a:t>
            </a:r>
            <a:r>
              <a:rPr lang="pt-PT" sz="2100">
                <a:solidFill>
                  <a:schemeClr val="dk1"/>
                </a:solidFill>
                <a:latin typeface="Corbel"/>
                <a:ea typeface="Corbel"/>
                <a:cs typeface="Corbel"/>
                <a:sym typeface="Corbel"/>
              </a:rPr>
              <a:t>between</a:t>
            </a:r>
            <a:r>
              <a:rPr lang="pt-PT" sz="2100">
                <a:solidFill>
                  <a:schemeClr val="dk1"/>
                </a:solidFill>
                <a:latin typeface="Corbel"/>
                <a:ea typeface="Corbel"/>
                <a:cs typeface="Corbel"/>
                <a:sym typeface="Corbel"/>
              </a:rPr>
              <a:t> pipelines</a:t>
            </a:r>
            <a:endParaRPr sz="2100">
              <a:solidFill>
                <a:schemeClr val="dk1"/>
              </a:solidFill>
              <a:latin typeface="Corbel"/>
              <a:ea typeface="Corbel"/>
              <a:cs typeface="Corbel"/>
              <a:sym typeface="Corbel"/>
            </a:endParaRPr>
          </a:p>
          <a:p>
            <a:pPr indent="0" lvl="0" marL="0" rtl="0" algn="l">
              <a:spcBef>
                <a:spcPts val="0"/>
              </a:spcBef>
              <a:spcAft>
                <a:spcPts val="0"/>
              </a:spcAft>
              <a:buNone/>
            </a:pPr>
            <a:r>
              <a:t/>
            </a:r>
            <a:endParaRPr sz="2100">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Where can CI/CD go wrong?</a:t>
            </a:r>
            <a:endParaRPr/>
          </a:p>
        </p:txBody>
      </p:sp>
      <p:pic>
        <p:nvPicPr>
          <p:cNvPr id="300" name="Google Shape;300;p34"/>
          <p:cNvPicPr preferRelativeResize="0"/>
          <p:nvPr/>
        </p:nvPicPr>
        <p:blipFill>
          <a:blip r:embed="rId3">
            <a:alphaModFix/>
          </a:blip>
          <a:stretch>
            <a:fillRect/>
          </a:stretch>
        </p:blipFill>
        <p:spPr>
          <a:xfrm>
            <a:off x="433151" y="2522475"/>
            <a:ext cx="1759075" cy="1722423"/>
          </a:xfrm>
          <a:prstGeom prst="rect">
            <a:avLst/>
          </a:prstGeom>
          <a:noFill/>
          <a:ln>
            <a:noFill/>
          </a:ln>
        </p:spPr>
      </p:pic>
      <p:sp>
        <p:nvSpPr>
          <p:cNvPr id="301" name="Google Shape;301;p34"/>
          <p:cNvSpPr txBox="1"/>
          <p:nvPr/>
        </p:nvSpPr>
        <p:spPr>
          <a:xfrm>
            <a:off x="534050" y="2102725"/>
            <a:ext cx="19806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Implementing…</a:t>
            </a:r>
            <a:endParaRPr sz="1600">
              <a:solidFill>
                <a:schemeClr val="dk1"/>
              </a:solidFill>
              <a:latin typeface="Corbel"/>
              <a:ea typeface="Corbel"/>
              <a:cs typeface="Corbel"/>
              <a:sym typeface="Corbel"/>
            </a:endParaRPr>
          </a:p>
        </p:txBody>
      </p:sp>
      <p:pic>
        <p:nvPicPr>
          <p:cNvPr id="302" name="Google Shape;302;p34"/>
          <p:cNvPicPr preferRelativeResize="0"/>
          <p:nvPr/>
        </p:nvPicPr>
        <p:blipFill>
          <a:blip r:embed="rId4">
            <a:alphaModFix/>
          </a:blip>
          <a:stretch>
            <a:fillRect/>
          </a:stretch>
        </p:blipFill>
        <p:spPr>
          <a:xfrm>
            <a:off x="3755171" y="1941125"/>
            <a:ext cx="1452383" cy="1452401"/>
          </a:xfrm>
          <a:prstGeom prst="rect">
            <a:avLst/>
          </a:prstGeom>
          <a:noFill/>
          <a:ln>
            <a:noFill/>
          </a:ln>
        </p:spPr>
      </p:pic>
      <p:cxnSp>
        <p:nvCxnSpPr>
          <p:cNvPr id="303" name="Google Shape;303;p34"/>
          <p:cNvCxnSpPr/>
          <p:nvPr/>
        </p:nvCxnSpPr>
        <p:spPr>
          <a:xfrm flipH="1" rot="10800000">
            <a:off x="2192171" y="2631325"/>
            <a:ext cx="1612800" cy="752400"/>
          </a:xfrm>
          <a:prstGeom prst="straightConnector1">
            <a:avLst/>
          </a:prstGeom>
          <a:noFill/>
          <a:ln cap="flat" cmpd="sng" w="28575">
            <a:solidFill>
              <a:schemeClr val="dk2"/>
            </a:solidFill>
            <a:prstDash val="solid"/>
            <a:round/>
            <a:headEnd len="med" w="med" type="none"/>
            <a:tailEnd len="med" w="med" type="triangle"/>
          </a:ln>
        </p:spPr>
      </p:cxnSp>
      <p:sp>
        <p:nvSpPr>
          <p:cNvPr id="304" name="Google Shape;304;p34"/>
          <p:cNvSpPr txBox="1"/>
          <p:nvPr/>
        </p:nvSpPr>
        <p:spPr>
          <a:xfrm>
            <a:off x="2514650" y="31060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Testing</a:t>
            </a:r>
            <a:endParaRPr sz="1600">
              <a:solidFill>
                <a:schemeClr val="dk1"/>
              </a:solidFill>
              <a:latin typeface="Corbel"/>
              <a:ea typeface="Corbel"/>
              <a:cs typeface="Corbel"/>
              <a:sym typeface="Corbel"/>
            </a:endParaRPr>
          </a:p>
        </p:txBody>
      </p:sp>
      <p:pic>
        <p:nvPicPr>
          <p:cNvPr id="305" name="Google Shape;305;p34"/>
          <p:cNvPicPr preferRelativeResize="0"/>
          <p:nvPr/>
        </p:nvPicPr>
        <p:blipFill>
          <a:blip r:embed="rId5">
            <a:alphaModFix/>
          </a:blip>
          <a:stretch>
            <a:fillRect/>
          </a:stretch>
        </p:blipFill>
        <p:spPr>
          <a:xfrm>
            <a:off x="6770500" y="2580862"/>
            <a:ext cx="1802725" cy="1802725"/>
          </a:xfrm>
          <a:prstGeom prst="rect">
            <a:avLst/>
          </a:prstGeom>
          <a:noFill/>
          <a:ln>
            <a:noFill/>
          </a:ln>
        </p:spPr>
      </p:pic>
      <p:cxnSp>
        <p:nvCxnSpPr>
          <p:cNvPr id="306" name="Google Shape;306;p34"/>
          <p:cNvCxnSpPr>
            <a:stCxn id="302" idx="3"/>
          </p:cNvCxnSpPr>
          <p:nvPr/>
        </p:nvCxnSpPr>
        <p:spPr>
          <a:xfrm>
            <a:off x="5207554" y="2667325"/>
            <a:ext cx="1957800" cy="568500"/>
          </a:xfrm>
          <a:prstGeom prst="straightConnector1">
            <a:avLst/>
          </a:prstGeom>
          <a:noFill/>
          <a:ln cap="flat" cmpd="sng" w="28575">
            <a:solidFill>
              <a:schemeClr val="dk2"/>
            </a:solidFill>
            <a:prstDash val="solid"/>
            <a:round/>
            <a:headEnd len="med" w="med" type="none"/>
            <a:tailEnd len="med" w="med" type="triangle"/>
          </a:ln>
        </p:spPr>
      </p:cxnSp>
      <p:sp>
        <p:nvSpPr>
          <p:cNvPr id="307" name="Google Shape;307;p34"/>
          <p:cNvSpPr txBox="1"/>
          <p:nvPr/>
        </p:nvSpPr>
        <p:spPr>
          <a:xfrm>
            <a:off x="5544250" y="2102722"/>
            <a:ext cx="1452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Continuous Building</a:t>
            </a:r>
            <a:endParaRPr sz="1600">
              <a:solidFill>
                <a:schemeClr val="dk1"/>
              </a:solidFill>
              <a:latin typeface="Corbel"/>
              <a:ea typeface="Corbel"/>
              <a:cs typeface="Corbel"/>
              <a:sym typeface="Corbel"/>
            </a:endParaRPr>
          </a:p>
        </p:txBody>
      </p:sp>
      <p:cxnSp>
        <p:nvCxnSpPr>
          <p:cNvPr id="308" name="Google Shape;308;p34"/>
          <p:cNvCxnSpPr/>
          <p:nvPr/>
        </p:nvCxnSpPr>
        <p:spPr>
          <a:xfrm flipH="1" rot="10800000">
            <a:off x="534050" y="1760900"/>
            <a:ext cx="3969300" cy="4500"/>
          </a:xfrm>
          <a:prstGeom prst="straightConnector1">
            <a:avLst/>
          </a:prstGeom>
          <a:noFill/>
          <a:ln cap="flat" cmpd="sng" w="28575">
            <a:solidFill>
              <a:schemeClr val="dk2"/>
            </a:solidFill>
            <a:prstDash val="solid"/>
            <a:round/>
            <a:headEnd len="med" w="med" type="none"/>
            <a:tailEnd len="med" w="med" type="none"/>
          </a:ln>
        </p:spPr>
      </p:cxnSp>
      <p:sp>
        <p:nvSpPr>
          <p:cNvPr id="309" name="Google Shape;309;p34"/>
          <p:cNvSpPr txBox="1"/>
          <p:nvPr/>
        </p:nvSpPr>
        <p:spPr>
          <a:xfrm>
            <a:off x="1130700" y="1350325"/>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1600">
                <a:solidFill>
                  <a:schemeClr val="dk1"/>
                </a:solidFill>
                <a:latin typeface="Corbel"/>
                <a:ea typeface="Corbel"/>
                <a:cs typeface="Corbel"/>
                <a:sym typeface="Corbel"/>
              </a:rPr>
              <a:t>Where problems come from</a:t>
            </a:r>
            <a:endParaRPr sz="1600">
              <a:solidFill>
                <a:schemeClr val="dk1"/>
              </a:solidFill>
              <a:latin typeface="Corbel"/>
              <a:ea typeface="Corbel"/>
              <a:cs typeface="Corbel"/>
              <a:sym typeface="Corbel"/>
            </a:endParaRPr>
          </a:p>
        </p:txBody>
      </p:sp>
      <p:sp>
        <p:nvSpPr>
          <p:cNvPr id="310" name="Google Shape;310;p34"/>
          <p:cNvSpPr txBox="1"/>
          <p:nvPr/>
        </p:nvSpPr>
        <p:spPr>
          <a:xfrm>
            <a:off x="5160200" y="1687350"/>
            <a:ext cx="2683200" cy="2888700"/>
          </a:xfrm>
          <a:prstGeom prst="rect">
            <a:avLst/>
          </a:prstGeom>
          <a:solidFill>
            <a:srgbClr val="D9D9D9"/>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t-PT" sz="2100">
                <a:solidFill>
                  <a:schemeClr val="dk1"/>
                </a:solidFill>
                <a:latin typeface="Corbel"/>
                <a:ea typeface="Corbel"/>
                <a:cs typeface="Corbel"/>
                <a:sym typeface="Corbel"/>
              </a:rPr>
              <a:t>Misconfigurations</a:t>
            </a:r>
            <a:endParaRPr b="1"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Bad third party inclusions </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Over privileged environments</a:t>
            </a:r>
            <a:endParaRPr sz="2100">
              <a:solidFill>
                <a:schemeClr val="dk1"/>
              </a:solidFill>
              <a:latin typeface="Corbel"/>
              <a:ea typeface="Corbel"/>
              <a:cs typeface="Corbel"/>
              <a:sym typeface="Corbel"/>
            </a:endParaRPr>
          </a:p>
          <a:p>
            <a:pPr indent="0" lvl="0" marL="0" rtl="0" algn="l">
              <a:spcBef>
                <a:spcPts val="0"/>
              </a:spcBef>
              <a:spcAft>
                <a:spcPts val="0"/>
              </a:spcAft>
              <a:buNone/>
            </a:pPr>
            <a:r>
              <a:rPr lang="pt-PT" sz="2100">
                <a:solidFill>
                  <a:schemeClr val="dk1"/>
                </a:solidFill>
                <a:latin typeface="Corbel"/>
                <a:ea typeface="Corbel"/>
                <a:cs typeface="Corbel"/>
                <a:sym typeface="Corbel"/>
              </a:rPr>
              <a:t>Weak isolation between pipelines</a:t>
            </a:r>
            <a:endParaRPr sz="2100">
              <a:solidFill>
                <a:schemeClr val="dk1"/>
              </a:solidFill>
              <a:latin typeface="Corbel"/>
              <a:ea typeface="Corbel"/>
              <a:cs typeface="Corbel"/>
              <a:sym typeface="Corbel"/>
            </a:endParaRPr>
          </a:p>
          <a:p>
            <a:pPr indent="0" lvl="0" marL="0" rtl="0" algn="l">
              <a:spcBef>
                <a:spcPts val="0"/>
              </a:spcBef>
              <a:spcAft>
                <a:spcPts val="0"/>
              </a:spcAft>
              <a:buNone/>
            </a:pPr>
            <a:r>
              <a:t/>
            </a:r>
            <a:endParaRPr sz="2100">
              <a:solidFill>
                <a:schemeClr val="dk1"/>
              </a:solidFill>
              <a:latin typeface="Corbel"/>
              <a:ea typeface="Corbel"/>
              <a:cs typeface="Corbel"/>
              <a:sym typeface="Corbe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16" name="Google Shape;316;p3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22" name="Google Shape;322;p3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rPr lang="pt-PT"/>
              <a:t>(via virtual machines or containers)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28" name="Google Shape;328;p3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rPr lang="pt-PT"/>
              <a:t>(via virtual machines or containers)</a:t>
            </a:r>
            <a:endParaRPr/>
          </a:p>
          <a:p>
            <a:pPr indent="0" lvl="0" marL="0" rtl="0" algn="l">
              <a:spcBef>
                <a:spcPts val="800"/>
              </a:spcBef>
              <a:spcAft>
                <a:spcPts val="0"/>
              </a:spcAft>
              <a:buNone/>
            </a:pPr>
            <a:r>
              <a:rPr lang="pt-PT"/>
              <a:t>Often not very isolated!</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34" name="Google Shape;334;p3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rPr lang="pt-PT"/>
              <a:t>(via virtual machines or containers)</a:t>
            </a:r>
            <a:endParaRPr/>
          </a:p>
          <a:p>
            <a:pPr indent="0" lvl="0" marL="0" rtl="0" algn="l">
              <a:spcBef>
                <a:spcPts val="800"/>
              </a:spcBef>
              <a:spcAft>
                <a:spcPts val="0"/>
              </a:spcAft>
              <a:buNone/>
            </a:pPr>
            <a:r>
              <a:rPr lang="pt-PT"/>
              <a:t>Often not very isolated!</a:t>
            </a:r>
            <a:endParaRPr/>
          </a:p>
          <a:p>
            <a:pPr indent="0" lvl="0" marL="0" rtl="0" algn="l">
              <a:spcBef>
                <a:spcPts val="800"/>
              </a:spcBef>
              <a:spcAft>
                <a:spcPts val="0"/>
              </a:spcAft>
              <a:buNone/>
            </a:pPr>
            <a:r>
              <a:rPr lang="pt-PT"/>
              <a:t>Also, configured</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335" name="Google Shape;335;p38"/>
          <p:cNvPicPr preferRelativeResize="0"/>
          <p:nvPr/>
        </p:nvPicPr>
        <p:blipFill>
          <a:blip r:embed="rId3">
            <a:alphaModFix/>
          </a:blip>
          <a:stretch>
            <a:fillRect/>
          </a:stretch>
        </p:blipFill>
        <p:spPr>
          <a:xfrm>
            <a:off x="6462025" y="2716750"/>
            <a:ext cx="1963576" cy="1963576"/>
          </a:xfrm>
          <a:prstGeom prst="rect">
            <a:avLst/>
          </a:prstGeom>
          <a:noFill/>
          <a:ln>
            <a:noFill/>
          </a:ln>
        </p:spPr>
      </p:pic>
      <p:pic>
        <p:nvPicPr>
          <p:cNvPr id="336" name="Google Shape;336;p38"/>
          <p:cNvPicPr preferRelativeResize="0"/>
          <p:nvPr/>
        </p:nvPicPr>
        <p:blipFill>
          <a:blip r:embed="rId4">
            <a:alphaModFix/>
          </a:blip>
          <a:stretch>
            <a:fillRect/>
          </a:stretch>
        </p:blipFill>
        <p:spPr>
          <a:xfrm rot="-6517495">
            <a:off x="7475075" y="2237450"/>
            <a:ext cx="994200" cy="994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42" name="Google Shape;342;p3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48" name="Google Shape;348;p4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rPr lang="pt-PT"/>
              <a:t>More configuration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349" name="Google Shape;349;p40"/>
          <p:cNvPicPr preferRelativeResize="0"/>
          <p:nvPr/>
        </p:nvPicPr>
        <p:blipFill>
          <a:blip r:embed="rId3">
            <a:alphaModFix/>
          </a:blip>
          <a:stretch>
            <a:fillRect/>
          </a:stretch>
        </p:blipFill>
        <p:spPr>
          <a:xfrm>
            <a:off x="6462025" y="2716750"/>
            <a:ext cx="1963576" cy="1963576"/>
          </a:xfrm>
          <a:prstGeom prst="rect">
            <a:avLst/>
          </a:prstGeom>
          <a:noFill/>
          <a:ln>
            <a:noFill/>
          </a:ln>
        </p:spPr>
      </p:pic>
      <p:pic>
        <p:nvPicPr>
          <p:cNvPr id="350" name="Google Shape;350;p40"/>
          <p:cNvPicPr preferRelativeResize="0"/>
          <p:nvPr/>
        </p:nvPicPr>
        <p:blipFill>
          <a:blip r:embed="rId4">
            <a:alphaModFix/>
          </a:blip>
          <a:stretch>
            <a:fillRect/>
          </a:stretch>
        </p:blipFill>
        <p:spPr>
          <a:xfrm rot="-6517495">
            <a:off x="7475075" y="2237450"/>
            <a:ext cx="994200" cy="994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56" name="Google Shape;356;p4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rPr lang="pt-PT"/>
              <a:t>More configuration :(</a:t>
            </a:r>
            <a:endParaRPr/>
          </a:p>
          <a:p>
            <a:pPr indent="0" lvl="0" marL="0" rtl="0" algn="l">
              <a:spcBef>
                <a:spcPts val="800"/>
              </a:spcBef>
              <a:spcAft>
                <a:spcPts val="0"/>
              </a:spcAft>
              <a:buNone/>
            </a:pPr>
            <a:r>
              <a:rPr lang="pt-PT"/>
              <a:t>Limited in scope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62" name="Google Shape;362;p4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rPr lang="pt-PT"/>
              <a:t>More configuration :(</a:t>
            </a:r>
            <a:endParaRPr/>
          </a:p>
          <a:p>
            <a:pPr indent="0" lvl="0" marL="0" rtl="0" algn="l">
              <a:spcBef>
                <a:spcPts val="800"/>
              </a:spcBef>
              <a:spcAft>
                <a:spcPts val="0"/>
              </a:spcAft>
              <a:buNone/>
            </a:pPr>
            <a:r>
              <a:rPr lang="pt-PT"/>
              <a:t>Limited in scope </a:t>
            </a:r>
            <a:endParaRPr/>
          </a:p>
          <a:p>
            <a:pPr indent="0" lvl="0" marL="0" rtl="0" algn="l">
              <a:spcBef>
                <a:spcPts val="800"/>
              </a:spcBef>
              <a:spcAft>
                <a:spcPts val="0"/>
              </a:spcAft>
              <a:buNone/>
            </a:pPr>
            <a:r>
              <a:rPr lang="pt-PT"/>
              <a:t>Not all problems come from vulnerabilities!</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68" name="Google Shape;368;p4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Provenance tracking</a:t>
            </a:r>
            <a:endParaRPr/>
          </a:p>
          <a:p>
            <a:pPr indent="0" lvl="0" marL="0" rtl="0" algn="l">
              <a:spcBef>
                <a:spcPts val="8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74" name="Google Shape;374;p4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Provenance tracking</a:t>
            </a:r>
            <a:endParaRPr/>
          </a:p>
          <a:p>
            <a:pPr indent="0" lvl="0" marL="0" rtl="0" algn="l">
              <a:spcBef>
                <a:spcPts val="800"/>
              </a:spcBef>
              <a:spcAft>
                <a:spcPts val="0"/>
              </a:spcAft>
              <a:buNone/>
            </a:pPr>
            <a:r>
              <a:rPr lang="pt-PT"/>
              <a:t>Assume a safe environment</a:t>
            </a:r>
            <a:endParaRPr/>
          </a:p>
          <a:p>
            <a:pPr indent="0" lvl="0" marL="0" rtl="0" algn="l">
              <a:spcBef>
                <a:spcPts val="8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80" name="Google Shape;380;p4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Provenance tracking</a:t>
            </a:r>
            <a:endParaRPr/>
          </a:p>
          <a:p>
            <a:pPr indent="0" lvl="0" marL="0" rtl="0" algn="l">
              <a:spcBef>
                <a:spcPts val="800"/>
              </a:spcBef>
              <a:spcAft>
                <a:spcPts val="0"/>
              </a:spcAft>
              <a:buNone/>
            </a:pPr>
            <a:r>
              <a:rPr lang="pt-PT"/>
              <a:t>Assume a safe environment</a:t>
            </a:r>
            <a:endParaRPr/>
          </a:p>
          <a:p>
            <a:pPr indent="0" lvl="0" marL="0" rtl="0" algn="l">
              <a:spcBef>
                <a:spcPts val="800"/>
              </a:spcBef>
              <a:spcAft>
                <a:spcPts val="0"/>
              </a:spcAft>
              <a:buNone/>
            </a:pPr>
            <a:r>
              <a:rPr lang="pt-PT"/>
              <a:t>Which is often not the case!</a:t>
            </a:r>
            <a:endParaRPr/>
          </a:p>
          <a:p>
            <a:pPr indent="0" lvl="0" marL="0" rtl="0" algn="l">
              <a:spcBef>
                <a:spcPts val="8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can we do?</a:t>
            </a:r>
            <a:endParaRPr/>
          </a:p>
        </p:txBody>
      </p:sp>
      <p:sp>
        <p:nvSpPr>
          <p:cNvPr id="386" name="Google Shape;386;p4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 Isolation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Vulnerability detection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Provenance tracking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So… what now?</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392" name="Google Shape;392;p4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398" name="Google Shape;398;p4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04" name="Google Shape;404;p4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a:p>
            <a:pPr indent="0" lvl="0" marL="0" rtl="0" algn="l">
              <a:spcBef>
                <a:spcPts val="800"/>
              </a:spcBef>
              <a:spcAft>
                <a:spcPts val="0"/>
              </a:spcAft>
              <a:buNone/>
            </a:pPr>
            <a:r>
              <a:rPr lang="pt-PT"/>
              <a:t>Less poisoning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10" name="Google Shape;410;p5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a:p>
            <a:pPr indent="0" lvl="0" marL="0" rtl="0" algn="l">
              <a:spcBef>
                <a:spcPts val="800"/>
              </a:spcBef>
              <a:spcAft>
                <a:spcPts val="0"/>
              </a:spcAft>
              <a:buNone/>
            </a:pPr>
            <a:r>
              <a:rPr lang="pt-PT"/>
              <a:t>Less poisoning</a:t>
            </a:r>
            <a:endParaRPr/>
          </a:p>
          <a:p>
            <a:pPr indent="0" lvl="0" marL="0" rtl="0" algn="l">
              <a:spcBef>
                <a:spcPts val="800"/>
              </a:spcBef>
              <a:spcAft>
                <a:spcPts val="0"/>
              </a:spcAft>
              <a:buNone/>
            </a:pPr>
            <a:r>
              <a:rPr lang="pt-PT"/>
              <a:t>Less ways for an attacker to do damage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16" name="Google Shape;416;p5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No configuration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22" name="Google Shape;422;p5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No configuration</a:t>
            </a:r>
            <a:endParaRPr/>
          </a:p>
          <a:p>
            <a:pPr indent="0" lvl="0" marL="0" rtl="0" algn="l">
              <a:spcBef>
                <a:spcPts val="800"/>
              </a:spcBef>
              <a:spcAft>
                <a:spcPts val="0"/>
              </a:spcAft>
              <a:buNone/>
            </a:pPr>
            <a:r>
              <a:rPr lang="pt-PT"/>
              <a:t>No opting out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28" name="Google Shape;428;p5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Freedom of execution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No configuration</a:t>
            </a:r>
            <a:endParaRPr/>
          </a:p>
          <a:p>
            <a:pPr indent="0" lvl="0" marL="0" rtl="0" algn="l">
              <a:spcBef>
                <a:spcPts val="800"/>
              </a:spcBef>
              <a:spcAft>
                <a:spcPts val="0"/>
              </a:spcAft>
              <a:buNone/>
            </a:pPr>
            <a:r>
              <a:rPr lang="pt-PT"/>
              <a:t>No opting out :)</a:t>
            </a:r>
            <a:endParaRPr/>
          </a:p>
          <a:p>
            <a:pPr indent="0" lvl="0" marL="0" rtl="0" algn="l">
              <a:spcBef>
                <a:spcPts val="800"/>
              </a:spcBef>
              <a:spcAft>
                <a:spcPts val="0"/>
              </a:spcAft>
              <a:buNone/>
            </a:pPr>
            <a:r>
              <a:rPr lang="pt-PT"/>
              <a:t>No misconfigurations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if we force isolation?</a:t>
            </a:r>
            <a:endParaRPr/>
          </a:p>
        </p:txBody>
      </p:sp>
      <p:sp>
        <p:nvSpPr>
          <p:cNvPr id="434" name="Google Shape;434;p5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435" name="Google Shape;435;p54"/>
          <p:cNvPicPr preferRelativeResize="0"/>
          <p:nvPr/>
        </p:nvPicPr>
        <p:blipFill>
          <a:blip r:embed="rId3">
            <a:alphaModFix/>
          </a:blip>
          <a:stretch>
            <a:fillRect/>
          </a:stretch>
        </p:blipFill>
        <p:spPr>
          <a:xfrm>
            <a:off x="2338050" y="1975150"/>
            <a:ext cx="4762500" cy="1905000"/>
          </a:xfrm>
          <a:prstGeom prst="rect">
            <a:avLst/>
          </a:prstGeom>
          <a:noFill/>
          <a:ln>
            <a:noFill/>
          </a:ln>
        </p:spPr>
      </p:pic>
      <p:cxnSp>
        <p:nvCxnSpPr>
          <p:cNvPr id="436" name="Google Shape;436;p54"/>
          <p:cNvCxnSpPr/>
          <p:nvPr/>
        </p:nvCxnSpPr>
        <p:spPr>
          <a:xfrm>
            <a:off x="5057000" y="3652850"/>
            <a:ext cx="951300" cy="5100"/>
          </a:xfrm>
          <a:prstGeom prst="straightConnector1">
            <a:avLst/>
          </a:prstGeom>
          <a:noFill/>
          <a:ln cap="flat" cmpd="sng" w="28575">
            <a:solidFill>
              <a:schemeClr val="dk2"/>
            </a:solidFill>
            <a:prstDash val="solid"/>
            <a:round/>
            <a:headEnd len="med" w="med" type="none"/>
            <a:tailEnd len="med" w="med" type="none"/>
          </a:ln>
        </p:spPr>
      </p:cxnSp>
      <p:sp>
        <p:nvSpPr>
          <p:cNvPr id="437" name="Google Shape;437;p54"/>
          <p:cNvSpPr txBox="1"/>
          <p:nvPr/>
        </p:nvSpPr>
        <p:spPr>
          <a:xfrm>
            <a:off x="4983975" y="3324988"/>
            <a:ext cx="3147300" cy="75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pt-PT" sz="1300">
                <a:solidFill>
                  <a:srgbClr val="F1C232"/>
                </a:solidFill>
                <a:latin typeface="Corbel"/>
                <a:ea typeface="Corbel"/>
                <a:cs typeface="Corbel"/>
                <a:sym typeface="Corbel"/>
              </a:rPr>
              <a:t>force security features</a:t>
            </a:r>
            <a:endParaRPr b="1" i="1" sz="1300">
              <a:solidFill>
                <a:srgbClr val="F1C232"/>
              </a:solidFill>
              <a:latin typeface="Corbel"/>
              <a:ea typeface="Corbel"/>
              <a:cs typeface="Corbel"/>
              <a:sym typeface="Corbe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a:t>
            </a:r>
            <a:endParaRPr/>
          </a:p>
        </p:txBody>
      </p:sp>
      <p:sp>
        <p:nvSpPr>
          <p:cNvPr id="443" name="Google Shape;443;p5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49" name="Google Shape;449;p5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55" name="Google Shape;455;p5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61" name="Google Shape;461;p5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Clr>
                <a:schemeClr val="dk1"/>
              </a:buClr>
              <a:buSzPts val="1100"/>
              <a:buFont typeface="Arial"/>
              <a:buNone/>
            </a:pPr>
            <a:r>
              <a:rPr lang="pt-PT"/>
              <a:t>Contains trusted and untrusted content, malicious and not</a:t>
            </a:r>
            <a:endParaRPr/>
          </a:p>
          <a:p>
            <a:pPr indent="0" lvl="0" marL="0" rtl="0" algn="l">
              <a:spcBef>
                <a:spcPts val="80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67" name="Google Shape;467;p5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rPr lang="pt-PT"/>
              <a:t>Contains trusted and untrusted content, malicious and not</a:t>
            </a:r>
            <a:endParaRPr/>
          </a:p>
          <a:p>
            <a:pPr indent="0" lvl="0" marL="0" rtl="0" algn="l">
              <a:spcBef>
                <a:spcPts val="800"/>
              </a:spcBef>
              <a:spcAft>
                <a:spcPts val="0"/>
              </a:spcAft>
              <a:buNone/>
            </a:pPr>
            <a:r>
              <a:rPr lang="pt-PT"/>
              <a:t>Attacker can run arbitrary commands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73" name="Google Shape;473;p6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rPr lang="pt-PT"/>
              <a:t>Contains trusted and untrusted content, malicious and not</a:t>
            </a:r>
            <a:endParaRPr/>
          </a:p>
          <a:p>
            <a:pPr indent="0" lvl="0" marL="0" rtl="0" algn="l">
              <a:spcBef>
                <a:spcPts val="800"/>
              </a:spcBef>
              <a:spcAft>
                <a:spcPts val="0"/>
              </a:spcAft>
              <a:buNone/>
            </a:pPr>
            <a:r>
              <a:rPr lang="pt-PT"/>
              <a:t>Attacker can run arbitrary commands</a:t>
            </a:r>
            <a:endParaRPr/>
          </a:p>
          <a:p>
            <a:pPr indent="0" lvl="0" marL="0" rtl="0" algn="l">
              <a:spcBef>
                <a:spcPts val="800"/>
              </a:spcBef>
              <a:spcAft>
                <a:spcPts val="0"/>
              </a:spcAft>
              <a:buNone/>
            </a:pPr>
            <a:r>
              <a:rPr lang="pt-PT"/>
              <a:t>They are bound to the workflow</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79" name="Google Shape;479;p6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85" name="Google Shape;485;p6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Clr>
                <a:schemeClr val="dk1"/>
              </a:buClr>
              <a:buSzPts val="1100"/>
              <a:buFont typeface="Arial"/>
              <a:buNone/>
            </a:pPr>
            <a:r>
              <a:rPr lang="pt-PT"/>
              <a:t>Worker OS and isolation process are trusted</a:t>
            </a:r>
            <a:endParaRPr/>
          </a:p>
          <a:p>
            <a:pPr indent="0" lvl="0" marL="0" rtl="0" algn="l">
              <a:spcBef>
                <a:spcPts val="80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91" name="Google Shape;491;p6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rPr lang="pt-PT"/>
              <a:t>Worker OS and isolation process are trusted</a:t>
            </a:r>
            <a:endParaRPr/>
          </a:p>
          <a:p>
            <a:pPr indent="0" lvl="0" marL="0" rtl="0" algn="l">
              <a:spcBef>
                <a:spcPts val="800"/>
              </a:spcBef>
              <a:spcAft>
                <a:spcPts val="0"/>
              </a:spcAft>
              <a:buNone/>
            </a:pPr>
            <a:r>
              <a:rPr lang="pt-PT"/>
              <a:t>Network </a:t>
            </a:r>
            <a:r>
              <a:rPr lang="pt-PT"/>
              <a:t>infrastructure</a:t>
            </a:r>
            <a:r>
              <a:rPr lang="pt-PT"/>
              <a:t> and storage are safe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497" name="Google Shape;497;p6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The adversary’s goals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503" name="Google Shape;503;p6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The adversary’s goals</a:t>
            </a:r>
            <a:endParaRPr/>
          </a:p>
          <a:p>
            <a:pPr indent="0" lvl="0" marL="0" rtl="0" algn="l">
              <a:spcBef>
                <a:spcPts val="800"/>
              </a:spcBef>
              <a:spcAft>
                <a:spcPts val="0"/>
              </a:spcAft>
              <a:buNone/>
            </a:pPr>
            <a:r>
              <a:rPr lang="pt-PT"/>
              <a:t>Secret exfiltration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509" name="Google Shape;509;p6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515" name="Google Shape;515;p6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a:t>
            </a:r>
            <a:r>
              <a:rPr lang="pt-PT"/>
              <a:t> changes to the environment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Threat Model and Assumptions</a:t>
            </a:r>
            <a:endParaRPr/>
          </a:p>
        </p:txBody>
      </p:sp>
      <p:sp>
        <p:nvSpPr>
          <p:cNvPr id="521" name="Google Shape;521;p68"/>
          <p:cNvSpPr txBox="1"/>
          <p:nvPr>
            <p:ph idx="1" type="body"/>
          </p:nvPr>
        </p:nvSpPr>
        <p:spPr>
          <a:xfrm>
            <a:off x="628650" y="1369225"/>
            <a:ext cx="7886700" cy="35709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The workflow wildcard</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The orchestrator safe harbor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 changes to the environment</a:t>
            </a:r>
            <a:endParaRPr/>
          </a:p>
          <a:p>
            <a:pPr indent="0" lvl="0" marL="0" rtl="0" algn="l">
              <a:spcBef>
                <a:spcPts val="800"/>
              </a:spcBef>
              <a:spcAft>
                <a:spcPts val="0"/>
              </a:spcAft>
              <a:buNone/>
            </a:pPr>
            <a:r>
              <a:rPr lang="pt-PT"/>
              <a:t>Disruption of other workflows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27" name="Google Shape;527;p6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33" name="Google Shape;533;p7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39" name="Google Shape;539;p7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a:p>
            <a:pPr indent="-317500" lvl="0" marL="457200" rtl="0" algn="l">
              <a:spcBef>
                <a:spcPts val="800"/>
              </a:spcBef>
              <a:spcAft>
                <a:spcPts val="0"/>
              </a:spcAft>
              <a:buSzPts val="1400"/>
              <a:buChar char="-"/>
            </a:pPr>
            <a:r>
              <a:rPr lang="pt-PT"/>
              <a:t>Small change between isolated and machine = better adherence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45" name="Google Shape;545;p7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a:p>
            <a:pPr indent="-317500" lvl="0" marL="457200" rtl="0" algn="l">
              <a:spcBef>
                <a:spcPts val="800"/>
              </a:spcBef>
              <a:spcAft>
                <a:spcPts val="0"/>
              </a:spcAft>
              <a:buSzPts val="1400"/>
              <a:buChar char="-"/>
            </a:pPr>
            <a:r>
              <a:rPr lang="pt-PT"/>
              <a:t>Small change between isolated and machine = better adherence</a:t>
            </a:r>
            <a:endParaRPr/>
          </a:p>
          <a:p>
            <a:pPr indent="-317500" lvl="0" marL="457200" rtl="0" algn="l">
              <a:spcBef>
                <a:spcPts val="0"/>
              </a:spcBef>
              <a:spcAft>
                <a:spcPts val="0"/>
              </a:spcAft>
              <a:buSzPts val="1400"/>
              <a:buChar char="-"/>
            </a:pPr>
            <a:r>
              <a:rPr lang="pt-PT"/>
              <a:t>There may be reason the user </a:t>
            </a:r>
            <a:r>
              <a:rPr lang="pt-PT"/>
              <a:t>wants</a:t>
            </a:r>
            <a:r>
              <a:rPr lang="pt-PT"/>
              <a:t> to use the bare metal machine!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51" name="Google Shape;551;p7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a:p>
            <a:pPr indent="-317500" lvl="0" marL="457200" rtl="0" algn="l">
              <a:spcBef>
                <a:spcPts val="800"/>
              </a:spcBef>
              <a:spcAft>
                <a:spcPts val="0"/>
              </a:spcAft>
              <a:buSzPts val="1400"/>
              <a:buChar char="-"/>
            </a:pPr>
            <a:r>
              <a:rPr lang="pt-PT"/>
              <a:t>Small change between isolated and machine = better adherence</a:t>
            </a:r>
            <a:endParaRPr/>
          </a:p>
          <a:p>
            <a:pPr indent="-317500" lvl="0" marL="457200" rtl="0" algn="l">
              <a:spcBef>
                <a:spcPts val="0"/>
              </a:spcBef>
              <a:spcAft>
                <a:spcPts val="0"/>
              </a:spcAft>
              <a:buSzPts val="1400"/>
              <a:buChar char="-"/>
            </a:pPr>
            <a:r>
              <a:rPr lang="pt-PT"/>
              <a:t>There may be reason the user wants to use the bare metal machine! </a:t>
            </a:r>
            <a:endParaRPr/>
          </a:p>
          <a:p>
            <a:pPr indent="-317500" lvl="0" marL="457200" rtl="0" algn="l">
              <a:spcBef>
                <a:spcPts val="0"/>
              </a:spcBef>
              <a:spcAft>
                <a:spcPts val="0"/>
              </a:spcAft>
              <a:buSzPts val="1400"/>
              <a:buChar char="-"/>
            </a:pPr>
            <a:r>
              <a:rPr lang="pt-PT"/>
              <a:t>i.e., tools, environment values, etc…</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57" name="Google Shape;557;p7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Must be well isolated</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But… how? – The bubble</a:t>
            </a:r>
            <a:endParaRPr/>
          </a:p>
        </p:txBody>
      </p:sp>
      <p:sp>
        <p:nvSpPr>
          <p:cNvPr id="563" name="Google Shape;563;p7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Must be similar to the host machine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Must be well isolated</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Answer: Podman container w/ image as a .tar of the machine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Our Setup</a:t>
            </a:r>
            <a:endParaRPr/>
          </a:p>
        </p:txBody>
      </p:sp>
      <p:sp>
        <p:nvSpPr>
          <p:cNvPr id="569" name="Google Shape;569;p7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Jenkins as the orchestrator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Our Setup</a:t>
            </a:r>
            <a:endParaRPr/>
          </a:p>
        </p:txBody>
      </p:sp>
      <p:sp>
        <p:nvSpPr>
          <p:cNvPr id="575" name="Google Shape;575;p7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Jenkins as the orchestrator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Two worker machines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Our Setup</a:t>
            </a:r>
            <a:endParaRPr/>
          </a:p>
        </p:txBody>
      </p:sp>
      <p:sp>
        <p:nvSpPr>
          <p:cNvPr id="581" name="Google Shape;581;p7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Jenkins as the orchestrator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Two worker machines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Totals: 3 machines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Our Setup</a:t>
            </a:r>
            <a:endParaRPr/>
          </a:p>
        </p:txBody>
      </p:sp>
      <p:sp>
        <p:nvSpPr>
          <p:cNvPr id="587" name="Google Shape;587;p7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Jenkins as the orchestrator</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Two worker machines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Totals: 3 machines (Openstack)</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Ubuntu 24.04, 8 GB of RAM, 64 GB of storage, 4 vCPUs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593" name="Google Shape;593;p8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8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599" name="Google Shape;599;p8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600" name="Google Shape;600;p81"/>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01" name="Google Shape;601;p81"/>
          <p:cNvSpPr/>
          <p:nvPr/>
        </p:nvSpPr>
        <p:spPr>
          <a:xfrm>
            <a:off x="4136162"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8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07" name="Google Shape;607;p8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Do we have a need to isolate?</a:t>
            </a:r>
            <a:endParaRPr/>
          </a:p>
        </p:txBody>
      </p:sp>
      <p:pic>
        <p:nvPicPr>
          <p:cNvPr id="608" name="Google Shape;608;p82"/>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09" name="Google Shape;609;p82"/>
          <p:cNvSpPr/>
          <p:nvPr/>
        </p:nvSpPr>
        <p:spPr>
          <a:xfrm>
            <a:off x="4136162"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8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15" name="Google Shape;615;p8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Do we have a need to isolate?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The basis of comparison for </a:t>
            </a:r>
            <a:br>
              <a:rPr lang="pt-PT"/>
            </a:br>
            <a:r>
              <a:rPr lang="pt-PT"/>
              <a:t>other modes</a:t>
            </a:r>
            <a:endParaRPr/>
          </a:p>
        </p:txBody>
      </p:sp>
      <p:pic>
        <p:nvPicPr>
          <p:cNvPr id="616" name="Google Shape;616;p83"/>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17" name="Google Shape;617;p83"/>
          <p:cNvSpPr/>
          <p:nvPr/>
        </p:nvSpPr>
        <p:spPr>
          <a:xfrm>
            <a:off x="4136162"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23" name="Google Shape;623;p8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624" name="Google Shape;624;p84"/>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25" name="Google Shape;625;p84"/>
          <p:cNvSpPr/>
          <p:nvPr/>
        </p:nvSpPr>
        <p:spPr>
          <a:xfrm>
            <a:off x="5596286"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31" name="Google Shape;631;p8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A fully isolated mode</a:t>
            </a:r>
            <a:endParaRPr/>
          </a:p>
        </p:txBody>
      </p:sp>
      <p:pic>
        <p:nvPicPr>
          <p:cNvPr id="632" name="Google Shape;632;p85"/>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33" name="Google Shape;633;p85"/>
          <p:cNvSpPr/>
          <p:nvPr/>
        </p:nvSpPr>
        <p:spPr>
          <a:xfrm>
            <a:off x="5596286"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39" name="Google Shape;639;p8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A fully isolated mode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Create, run and destroy</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640" name="Google Shape;640;p86"/>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41" name="Google Shape;641;p86"/>
          <p:cNvSpPr/>
          <p:nvPr/>
        </p:nvSpPr>
        <p:spPr>
          <a:xfrm>
            <a:off x="5596286"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47" name="Google Shape;647;p8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A fully isolated mode</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Create, run and destroy</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pic>
        <p:nvPicPr>
          <p:cNvPr id="648" name="Google Shape;648;p87"/>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49" name="Google Shape;649;p87"/>
          <p:cNvSpPr/>
          <p:nvPr/>
        </p:nvSpPr>
        <p:spPr>
          <a:xfrm>
            <a:off x="5596286"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cxnSp>
        <p:nvCxnSpPr>
          <p:cNvPr id="650" name="Google Shape;650;p87"/>
          <p:cNvCxnSpPr/>
          <p:nvPr/>
        </p:nvCxnSpPr>
        <p:spPr>
          <a:xfrm flipH="1">
            <a:off x="5398675" y="1375850"/>
            <a:ext cx="4500" cy="35901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8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56" name="Google Shape;656;p8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657" name="Google Shape;657;p88"/>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58" name="Google Shape;658;p88"/>
          <p:cNvSpPr/>
          <p:nvPr/>
        </p:nvSpPr>
        <p:spPr>
          <a:xfrm>
            <a:off x="7407449"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8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64" name="Google Shape;664;p8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Hopefully faster isolation</a:t>
            </a:r>
            <a:endParaRPr/>
          </a:p>
        </p:txBody>
      </p:sp>
      <p:pic>
        <p:nvPicPr>
          <p:cNvPr id="665" name="Google Shape;665;p89"/>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66" name="Google Shape;666;p89"/>
          <p:cNvSpPr/>
          <p:nvPr/>
        </p:nvSpPr>
        <p:spPr>
          <a:xfrm>
            <a:off x="7407449"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72" name="Google Shape;672;p9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Hopefully faster isolation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Hopefully reuse won’t sacrifice</a:t>
            </a:r>
            <a:br>
              <a:rPr lang="pt-PT"/>
            </a:br>
            <a:r>
              <a:rPr lang="pt-PT"/>
              <a:t>isolation</a:t>
            </a:r>
            <a:endParaRPr/>
          </a:p>
        </p:txBody>
      </p:sp>
      <p:pic>
        <p:nvPicPr>
          <p:cNvPr id="673" name="Google Shape;673;p90"/>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74" name="Google Shape;674;p90"/>
          <p:cNvSpPr/>
          <p:nvPr/>
        </p:nvSpPr>
        <p:spPr>
          <a:xfrm>
            <a:off x="7407449"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The Three Modes </a:t>
            </a:r>
            <a:endParaRPr/>
          </a:p>
        </p:txBody>
      </p:sp>
      <p:sp>
        <p:nvSpPr>
          <p:cNvPr id="680" name="Google Shape;680;p9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Hopefully faster isolation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Hopefully reuse won’t sacrifice</a:t>
            </a:r>
            <a:br>
              <a:rPr lang="pt-PT"/>
            </a:br>
            <a:r>
              <a:rPr lang="pt-PT"/>
              <a:t>isolation</a:t>
            </a:r>
            <a:endParaRPr/>
          </a:p>
        </p:txBody>
      </p:sp>
      <p:pic>
        <p:nvPicPr>
          <p:cNvPr id="681" name="Google Shape;681;p91"/>
          <p:cNvPicPr preferRelativeResize="0"/>
          <p:nvPr/>
        </p:nvPicPr>
        <p:blipFill>
          <a:blip r:embed="rId3">
            <a:alphaModFix/>
          </a:blip>
          <a:stretch>
            <a:fillRect/>
          </a:stretch>
        </p:blipFill>
        <p:spPr>
          <a:xfrm>
            <a:off x="4049163" y="0"/>
            <a:ext cx="4973224" cy="5143500"/>
          </a:xfrm>
          <a:prstGeom prst="rect">
            <a:avLst/>
          </a:prstGeom>
          <a:noFill/>
          <a:ln>
            <a:noFill/>
          </a:ln>
        </p:spPr>
      </p:pic>
      <p:sp>
        <p:nvSpPr>
          <p:cNvPr id="682" name="Google Shape;682;p91"/>
          <p:cNvSpPr/>
          <p:nvPr/>
        </p:nvSpPr>
        <p:spPr>
          <a:xfrm>
            <a:off x="7407449" y="1348875"/>
            <a:ext cx="1297200" cy="3051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cxnSp>
        <p:nvCxnSpPr>
          <p:cNvPr id="683" name="Google Shape;683;p91"/>
          <p:cNvCxnSpPr/>
          <p:nvPr/>
        </p:nvCxnSpPr>
        <p:spPr>
          <a:xfrm flipH="1">
            <a:off x="7161775" y="1369225"/>
            <a:ext cx="4500" cy="22434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92"/>
          <p:cNvSpPr txBox="1"/>
          <p:nvPr>
            <p:ph type="title"/>
          </p:nvPr>
        </p:nvSpPr>
        <p:spPr>
          <a:xfrm>
            <a:off x="623888" y="1282305"/>
            <a:ext cx="7886700" cy="21396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pt-PT"/>
              <a:t>Results</a:t>
            </a:r>
            <a:endParaRPr/>
          </a:p>
        </p:txBody>
      </p:sp>
      <p:sp>
        <p:nvSpPr>
          <p:cNvPr id="689" name="Google Shape;689;p92"/>
          <p:cNvSpPr txBox="1"/>
          <p:nvPr>
            <p:ph idx="1" type="body"/>
          </p:nvPr>
        </p:nvSpPr>
        <p:spPr>
          <a:xfrm>
            <a:off x="623888" y="3442099"/>
            <a:ext cx="7886700" cy="1125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Timing</a:t>
            </a:r>
            <a:endParaRPr/>
          </a:p>
        </p:txBody>
      </p:sp>
      <p:sp>
        <p:nvSpPr>
          <p:cNvPr id="695" name="Google Shape;695;p9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696" name="Google Shape;696;p93"/>
          <p:cNvPicPr preferRelativeResize="0"/>
          <p:nvPr/>
        </p:nvPicPr>
        <p:blipFill>
          <a:blip r:embed="rId3">
            <a:alphaModFix/>
          </a:blip>
          <a:stretch>
            <a:fillRect/>
          </a:stretch>
        </p:blipFill>
        <p:spPr>
          <a:xfrm>
            <a:off x="3875825" y="376475"/>
            <a:ext cx="4795874" cy="450755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9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Timing</a:t>
            </a:r>
            <a:endParaRPr/>
          </a:p>
        </p:txBody>
      </p:sp>
      <p:sp>
        <p:nvSpPr>
          <p:cNvPr id="702" name="Google Shape;702;p9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No isolation: 12.216 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Reuse (Run): 13.377 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Only 1s difference :)</a:t>
            </a:r>
            <a:endParaRPr/>
          </a:p>
        </p:txBody>
      </p:sp>
      <p:pic>
        <p:nvPicPr>
          <p:cNvPr id="703" name="Google Shape;703;p94"/>
          <p:cNvPicPr preferRelativeResize="0"/>
          <p:nvPr/>
        </p:nvPicPr>
        <p:blipFill>
          <a:blip r:embed="rId3">
            <a:alphaModFix/>
          </a:blip>
          <a:stretch>
            <a:fillRect/>
          </a:stretch>
        </p:blipFill>
        <p:spPr>
          <a:xfrm>
            <a:off x="3875825" y="376475"/>
            <a:ext cx="4795874" cy="45075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9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Timing</a:t>
            </a:r>
            <a:endParaRPr/>
          </a:p>
        </p:txBody>
      </p:sp>
      <p:sp>
        <p:nvSpPr>
          <p:cNvPr id="709" name="Google Shape;709;p9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Reuse (Setup): 390.638 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Full Isolation: 582.543 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Full isolated is (a bit) </a:t>
            </a:r>
            <a:endParaRPr/>
          </a:p>
          <a:p>
            <a:pPr indent="0" lvl="0" marL="0" rtl="0" algn="l">
              <a:spcBef>
                <a:spcPts val="800"/>
              </a:spcBef>
              <a:spcAft>
                <a:spcPts val="0"/>
              </a:spcAft>
              <a:buNone/>
            </a:pPr>
            <a:r>
              <a:rPr lang="pt-PT"/>
              <a:t>slower :/</a:t>
            </a:r>
            <a:endParaRPr/>
          </a:p>
        </p:txBody>
      </p:sp>
      <p:pic>
        <p:nvPicPr>
          <p:cNvPr id="710" name="Google Shape;710;p95"/>
          <p:cNvPicPr preferRelativeResize="0"/>
          <p:nvPr/>
        </p:nvPicPr>
        <p:blipFill>
          <a:blip r:embed="rId3">
            <a:alphaModFix/>
          </a:blip>
          <a:stretch>
            <a:fillRect/>
          </a:stretch>
        </p:blipFill>
        <p:spPr>
          <a:xfrm>
            <a:off x="3875825" y="376475"/>
            <a:ext cx="4795874" cy="45075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RAM</a:t>
            </a:r>
            <a:endParaRPr/>
          </a:p>
        </p:txBody>
      </p:sp>
      <p:sp>
        <p:nvSpPr>
          <p:cNvPr id="716" name="Google Shape;716;p9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717" name="Google Shape;717;p96"/>
          <p:cNvPicPr preferRelativeResize="0"/>
          <p:nvPr/>
        </p:nvPicPr>
        <p:blipFill>
          <a:blip r:embed="rId3">
            <a:alphaModFix/>
          </a:blip>
          <a:stretch>
            <a:fillRect/>
          </a:stretch>
        </p:blipFill>
        <p:spPr>
          <a:xfrm>
            <a:off x="188238" y="1130300"/>
            <a:ext cx="8767525" cy="32886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RAM</a:t>
            </a:r>
            <a:endParaRPr/>
          </a:p>
        </p:txBody>
      </p:sp>
      <p:sp>
        <p:nvSpPr>
          <p:cNvPr id="723" name="Google Shape;723;p9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724" name="Google Shape;724;p97"/>
          <p:cNvPicPr preferRelativeResize="0"/>
          <p:nvPr/>
        </p:nvPicPr>
        <p:blipFill>
          <a:blip r:embed="rId3">
            <a:alphaModFix/>
          </a:blip>
          <a:stretch>
            <a:fillRect/>
          </a:stretch>
        </p:blipFill>
        <p:spPr>
          <a:xfrm>
            <a:off x="106850" y="1102325"/>
            <a:ext cx="8879451" cy="317592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9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30" name="Google Shape;730;p9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36" name="Google Shape;736;p9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a:p>
            <a:pPr indent="0" lvl="0" marL="0" rtl="0" algn="l">
              <a:spcBef>
                <a:spcPts val="800"/>
              </a:spcBef>
              <a:spcAft>
                <a:spcPts val="0"/>
              </a:spcAft>
              <a:buNone/>
            </a:pPr>
            <a:r>
              <a:t/>
            </a:r>
            <a:endParaRPr/>
          </a:p>
          <a:p>
            <a:pPr indent="0" lvl="0" marL="0" rtl="0" algn="l">
              <a:spcBef>
                <a:spcPts val="800"/>
              </a:spcBef>
              <a:spcAft>
                <a:spcPts val="0"/>
              </a:spcAft>
              <a:buClr>
                <a:schemeClr val="dk1"/>
              </a:buClr>
              <a:buSzPts val="1100"/>
              <a:buFont typeface="Arial"/>
              <a:buNone/>
            </a:pPr>
            <a:r>
              <a:rPr lang="pt-PT"/>
              <a:t>The adversary’s goals:</a:t>
            </a:r>
            <a:endParaRPr/>
          </a:p>
          <a:p>
            <a:pPr indent="0" lvl="0" marL="0" rtl="0" algn="l">
              <a:spcBef>
                <a:spcPts val="800"/>
              </a:spcBef>
              <a:spcAft>
                <a:spcPts val="0"/>
              </a:spcAft>
              <a:buClr>
                <a:schemeClr val="dk1"/>
              </a:buClr>
              <a:buSzPts val="1100"/>
              <a:buFont typeface="Arial"/>
              <a:buNone/>
            </a:pPr>
            <a:r>
              <a:rPr lang="pt-PT"/>
              <a:t>Secret exfiltration</a:t>
            </a:r>
            <a:endParaRPr/>
          </a:p>
          <a:p>
            <a:pPr indent="0" lvl="0" marL="0" rtl="0" algn="l">
              <a:spcBef>
                <a:spcPts val="800"/>
              </a:spcBef>
              <a:spcAft>
                <a:spcPts val="0"/>
              </a:spcAft>
              <a:buClr>
                <a:schemeClr val="dk1"/>
              </a:buClr>
              <a:buSzPts val="1100"/>
              <a:buFont typeface="Arial"/>
              <a:buNone/>
            </a:pPr>
            <a:r>
              <a:rPr lang="pt-PT"/>
              <a:t>Artifact tampering</a:t>
            </a:r>
            <a:endParaRPr/>
          </a:p>
          <a:p>
            <a:pPr indent="0" lvl="0" marL="0" rtl="0" algn="l">
              <a:spcBef>
                <a:spcPts val="800"/>
              </a:spcBef>
              <a:spcAft>
                <a:spcPts val="0"/>
              </a:spcAft>
              <a:buClr>
                <a:schemeClr val="dk1"/>
              </a:buClr>
              <a:buSzPts val="1100"/>
              <a:buFont typeface="Arial"/>
              <a:buNone/>
            </a:pPr>
            <a:r>
              <a:rPr lang="pt-PT"/>
              <a:t>Persistent changes to the environment</a:t>
            </a:r>
            <a:endParaRPr/>
          </a:p>
          <a:p>
            <a:pPr indent="0" lvl="0" marL="0" rtl="0" algn="l">
              <a:spcBef>
                <a:spcPts val="800"/>
              </a:spcBef>
              <a:spcAft>
                <a:spcPts val="0"/>
              </a:spcAft>
              <a:buClr>
                <a:schemeClr val="dk1"/>
              </a:buClr>
              <a:buSzPts val="1100"/>
              <a:buFont typeface="Arial"/>
              <a:buNone/>
            </a:pPr>
            <a:r>
              <a:rPr lang="pt-PT"/>
              <a:t>Disruption of other workflows</a:t>
            </a:r>
            <a:endParaRPr/>
          </a:p>
          <a:p>
            <a:pPr indent="0" lvl="0" marL="0" rtl="0" algn="l">
              <a:spcBef>
                <a:spcPts val="80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42" name="Google Shape;742;p10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 changes to the environment</a:t>
            </a:r>
            <a:endParaRPr/>
          </a:p>
          <a:p>
            <a:pPr indent="0" lvl="0" marL="0" rtl="0" algn="l">
              <a:spcBef>
                <a:spcPts val="800"/>
              </a:spcBef>
              <a:spcAft>
                <a:spcPts val="0"/>
              </a:spcAft>
              <a:buNone/>
            </a:pPr>
            <a:r>
              <a:rPr lang="pt-PT"/>
              <a:t>Disruption of other workflows</a:t>
            </a:r>
            <a:endParaRPr/>
          </a:p>
          <a:p>
            <a:pPr indent="0" lvl="0" marL="0" rtl="0" algn="l">
              <a:spcBef>
                <a:spcPts val="800"/>
              </a:spcBef>
              <a:spcAft>
                <a:spcPts val="0"/>
              </a:spcAft>
              <a:buNone/>
            </a:pPr>
            <a:r>
              <a:t/>
            </a:r>
            <a:endParaRPr/>
          </a:p>
        </p:txBody>
      </p:sp>
      <p:sp>
        <p:nvSpPr>
          <p:cNvPr id="743" name="Google Shape;743;p100"/>
          <p:cNvSpPr txBox="1"/>
          <p:nvPr/>
        </p:nvSpPr>
        <p:spPr>
          <a:xfrm>
            <a:off x="6249575" y="2116575"/>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reading (OS/WF)</a:t>
            </a:r>
            <a:endParaRPr sz="2100">
              <a:solidFill>
                <a:schemeClr val="dk1"/>
              </a:solidFill>
              <a:latin typeface="Corbel"/>
              <a:ea typeface="Corbel"/>
              <a:cs typeface="Corbel"/>
              <a:sym typeface="Corbel"/>
            </a:endParaRPr>
          </a:p>
        </p:txBody>
      </p:sp>
      <p:cxnSp>
        <p:nvCxnSpPr>
          <p:cNvPr id="744" name="Google Shape;744;p100"/>
          <p:cNvCxnSpPr/>
          <p:nvPr/>
        </p:nvCxnSpPr>
        <p:spPr>
          <a:xfrm flipH="1">
            <a:off x="2849275" y="2348725"/>
            <a:ext cx="3391200" cy="3642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0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50" name="Google Shape;750;p10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 changes to the environment</a:t>
            </a:r>
            <a:endParaRPr/>
          </a:p>
          <a:p>
            <a:pPr indent="0" lvl="0" marL="0" rtl="0" algn="l">
              <a:spcBef>
                <a:spcPts val="800"/>
              </a:spcBef>
              <a:spcAft>
                <a:spcPts val="0"/>
              </a:spcAft>
              <a:buNone/>
            </a:pPr>
            <a:r>
              <a:rPr lang="pt-PT"/>
              <a:t>Disruption of other workflows</a:t>
            </a:r>
            <a:endParaRPr/>
          </a:p>
          <a:p>
            <a:pPr indent="0" lvl="0" marL="0" rtl="0" algn="l">
              <a:spcBef>
                <a:spcPts val="800"/>
              </a:spcBef>
              <a:spcAft>
                <a:spcPts val="0"/>
              </a:spcAft>
              <a:buNone/>
            </a:pPr>
            <a:r>
              <a:t/>
            </a:r>
            <a:endParaRPr/>
          </a:p>
        </p:txBody>
      </p:sp>
      <p:sp>
        <p:nvSpPr>
          <p:cNvPr id="751" name="Google Shape;751;p101"/>
          <p:cNvSpPr txBox="1"/>
          <p:nvPr/>
        </p:nvSpPr>
        <p:spPr>
          <a:xfrm>
            <a:off x="6249575" y="2116575"/>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reading (OS/WF)</a:t>
            </a:r>
            <a:endParaRPr sz="2100">
              <a:solidFill>
                <a:schemeClr val="dk1"/>
              </a:solidFill>
              <a:latin typeface="Corbel"/>
              <a:ea typeface="Corbel"/>
              <a:cs typeface="Corbel"/>
              <a:sym typeface="Corbel"/>
            </a:endParaRPr>
          </a:p>
        </p:txBody>
      </p:sp>
      <p:cxnSp>
        <p:nvCxnSpPr>
          <p:cNvPr id="752" name="Google Shape;752;p101"/>
          <p:cNvCxnSpPr/>
          <p:nvPr/>
        </p:nvCxnSpPr>
        <p:spPr>
          <a:xfrm flipH="1">
            <a:off x="2849275" y="2348725"/>
            <a:ext cx="3391200" cy="364200"/>
          </a:xfrm>
          <a:prstGeom prst="straightConnector1">
            <a:avLst/>
          </a:prstGeom>
          <a:noFill/>
          <a:ln cap="flat" cmpd="sng" w="28575">
            <a:solidFill>
              <a:schemeClr val="dk2"/>
            </a:solidFill>
            <a:prstDash val="solid"/>
            <a:round/>
            <a:headEnd len="med" w="med" type="none"/>
            <a:tailEnd len="med" w="med" type="triangle"/>
          </a:ln>
        </p:spPr>
      </p:cxnSp>
      <p:sp>
        <p:nvSpPr>
          <p:cNvPr id="753" name="Google Shape;753;p101"/>
          <p:cNvSpPr txBox="1"/>
          <p:nvPr/>
        </p:nvSpPr>
        <p:spPr>
          <a:xfrm>
            <a:off x="6249575" y="2783325"/>
            <a:ext cx="2112000" cy="6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writing (WF)</a:t>
            </a:r>
            <a:endParaRPr sz="2100">
              <a:solidFill>
                <a:schemeClr val="dk1"/>
              </a:solidFill>
              <a:latin typeface="Corbel"/>
              <a:ea typeface="Corbel"/>
              <a:cs typeface="Corbel"/>
              <a:sym typeface="Corbel"/>
            </a:endParaRPr>
          </a:p>
        </p:txBody>
      </p:sp>
      <p:cxnSp>
        <p:nvCxnSpPr>
          <p:cNvPr id="754" name="Google Shape;754;p101"/>
          <p:cNvCxnSpPr/>
          <p:nvPr/>
        </p:nvCxnSpPr>
        <p:spPr>
          <a:xfrm flipH="1">
            <a:off x="2885950" y="3045125"/>
            <a:ext cx="3413700" cy="822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60" name="Google Shape;760;p10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 changes to the environment</a:t>
            </a:r>
            <a:endParaRPr/>
          </a:p>
          <a:p>
            <a:pPr indent="0" lvl="0" marL="0" rtl="0" algn="l">
              <a:spcBef>
                <a:spcPts val="800"/>
              </a:spcBef>
              <a:spcAft>
                <a:spcPts val="0"/>
              </a:spcAft>
              <a:buNone/>
            </a:pPr>
            <a:r>
              <a:rPr lang="pt-PT"/>
              <a:t>Disruption of other workflows</a:t>
            </a:r>
            <a:endParaRPr/>
          </a:p>
          <a:p>
            <a:pPr indent="0" lvl="0" marL="0" rtl="0" algn="l">
              <a:spcBef>
                <a:spcPts val="800"/>
              </a:spcBef>
              <a:spcAft>
                <a:spcPts val="0"/>
              </a:spcAft>
              <a:buNone/>
            </a:pPr>
            <a:r>
              <a:t/>
            </a:r>
            <a:endParaRPr/>
          </a:p>
        </p:txBody>
      </p:sp>
      <p:sp>
        <p:nvSpPr>
          <p:cNvPr id="761" name="Google Shape;761;p102"/>
          <p:cNvSpPr txBox="1"/>
          <p:nvPr/>
        </p:nvSpPr>
        <p:spPr>
          <a:xfrm>
            <a:off x="6249575" y="2116575"/>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reading (OS/WF)</a:t>
            </a:r>
            <a:endParaRPr sz="2100">
              <a:solidFill>
                <a:schemeClr val="dk1"/>
              </a:solidFill>
              <a:latin typeface="Corbel"/>
              <a:ea typeface="Corbel"/>
              <a:cs typeface="Corbel"/>
              <a:sym typeface="Corbel"/>
            </a:endParaRPr>
          </a:p>
        </p:txBody>
      </p:sp>
      <p:cxnSp>
        <p:nvCxnSpPr>
          <p:cNvPr id="762" name="Google Shape;762;p102"/>
          <p:cNvCxnSpPr/>
          <p:nvPr/>
        </p:nvCxnSpPr>
        <p:spPr>
          <a:xfrm flipH="1">
            <a:off x="2849275" y="2348725"/>
            <a:ext cx="3391200" cy="364200"/>
          </a:xfrm>
          <a:prstGeom prst="straightConnector1">
            <a:avLst/>
          </a:prstGeom>
          <a:noFill/>
          <a:ln cap="flat" cmpd="sng" w="28575">
            <a:solidFill>
              <a:schemeClr val="dk2"/>
            </a:solidFill>
            <a:prstDash val="solid"/>
            <a:round/>
            <a:headEnd len="med" w="med" type="none"/>
            <a:tailEnd len="med" w="med" type="triangle"/>
          </a:ln>
        </p:spPr>
      </p:cxnSp>
      <p:sp>
        <p:nvSpPr>
          <p:cNvPr id="763" name="Google Shape;763;p102"/>
          <p:cNvSpPr txBox="1"/>
          <p:nvPr/>
        </p:nvSpPr>
        <p:spPr>
          <a:xfrm>
            <a:off x="6249575" y="2783325"/>
            <a:ext cx="2112000" cy="6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writing (WF)</a:t>
            </a:r>
            <a:endParaRPr sz="2100">
              <a:solidFill>
                <a:schemeClr val="dk1"/>
              </a:solidFill>
              <a:latin typeface="Corbel"/>
              <a:ea typeface="Corbel"/>
              <a:cs typeface="Corbel"/>
              <a:sym typeface="Corbel"/>
            </a:endParaRPr>
          </a:p>
        </p:txBody>
      </p:sp>
      <p:cxnSp>
        <p:nvCxnSpPr>
          <p:cNvPr id="764" name="Google Shape;764;p102"/>
          <p:cNvCxnSpPr/>
          <p:nvPr/>
        </p:nvCxnSpPr>
        <p:spPr>
          <a:xfrm flipH="1">
            <a:off x="2885950" y="3045125"/>
            <a:ext cx="3413700" cy="82200"/>
          </a:xfrm>
          <a:prstGeom prst="straightConnector1">
            <a:avLst/>
          </a:prstGeom>
          <a:noFill/>
          <a:ln cap="flat" cmpd="sng" w="28575">
            <a:solidFill>
              <a:schemeClr val="dk2"/>
            </a:solidFill>
            <a:prstDash val="solid"/>
            <a:round/>
            <a:headEnd len="med" w="med" type="none"/>
            <a:tailEnd len="med" w="med" type="triangle"/>
          </a:ln>
        </p:spPr>
      </p:cxnSp>
      <p:cxnSp>
        <p:nvCxnSpPr>
          <p:cNvPr id="765" name="Google Shape;765;p102"/>
          <p:cNvCxnSpPr/>
          <p:nvPr/>
        </p:nvCxnSpPr>
        <p:spPr>
          <a:xfrm flipH="1">
            <a:off x="4997850" y="3486650"/>
            <a:ext cx="1320000" cy="6000"/>
          </a:xfrm>
          <a:prstGeom prst="straightConnector1">
            <a:avLst/>
          </a:prstGeom>
          <a:noFill/>
          <a:ln cap="flat" cmpd="sng" w="28575">
            <a:solidFill>
              <a:schemeClr val="dk2"/>
            </a:solidFill>
            <a:prstDash val="solid"/>
            <a:round/>
            <a:headEnd len="med" w="med" type="none"/>
            <a:tailEnd len="med" w="med" type="triangle"/>
          </a:ln>
        </p:spPr>
      </p:cxnSp>
      <p:sp>
        <p:nvSpPr>
          <p:cNvPr id="766" name="Google Shape;766;p102"/>
          <p:cNvSpPr txBox="1"/>
          <p:nvPr/>
        </p:nvSpPr>
        <p:spPr>
          <a:xfrm>
            <a:off x="6299650" y="3215750"/>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writing (OS)</a:t>
            </a:r>
            <a:endParaRPr sz="2100">
              <a:solidFill>
                <a:schemeClr val="dk1"/>
              </a:solidFill>
              <a:latin typeface="Corbel"/>
              <a:ea typeface="Corbel"/>
              <a:cs typeface="Corbel"/>
              <a:sym typeface="Corbe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0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72" name="Google Shape;772;p10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Going back to the Threat Model…</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The adversary’s goals:</a:t>
            </a:r>
            <a:endParaRPr/>
          </a:p>
          <a:p>
            <a:pPr indent="0" lvl="0" marL="0" rtl="0" algn="l">
              <a:spcBef>
                <a:spcPts val="800"/>
              </a:spcBef>
              <a:spcAft>
                <a:spcPts val="0"/>
              </a:spcAft>
              <a:buNone/>
            </a:pPr>
            <a:r>
              <a:rPr lang="pt-PT"/>
              <a:t>Secret exfiltration</a:t>
            </a:r>
            <a:endParaRPr/>
          </a:p>
          <a:p>
            <a:pPr indent="0" lvl="0" marL="0" rtl="0" algn="l">
              <a:spcBef>
                <a:spcPts val="800"/>
              </a:spcBef>
              <a:spcAft>
                <a:spcPts val="0"/>
              </a:spcAft>
              <a:buNone/>
            </a:pPr>
            <a:r>
              <a:rPr lang="pt-PT"/>
              <a:t>Artifact tampering</a:t>
            </a:r>
            <a:endParaRPr/>
          </a:p>
          <a:p>
            <a:pPr indent="0" lvl="0" marL="0" rtl="0" algn="l">
              <a:spcBef>
                <a:spcPts val="800"/>
              </a:spcBef>
              <a:spcAft>
                <a:spcPts val="0"/>
              </a:spcAft>
              <a:buNone/>
            </a:pPr>
            <a:r>
              <a:rPr lang="pt-PT"/>
              <a:t>Persistent changes to the environment</a:t>
            </a:r>
            <a:endParaRPr/>
          </a:p>
          <a:p>
            <a:pPr indent="0" lvl="0" marL="0" rtl="0" algn="l">
              <a:spcBef>
                <a:spcPts val="800"/>
              </a:spcBef>
              <a:spcAft>
                <a:spcPts val="0"/>
              </a:spcAft>
              <a:buNone/>
            </a:pPr>
            <a:r>
              <a:rPr lang="pt-PT"/>
              <a:t>Disruption of other workflows</a:t>
            </a:r>
            <a:endParaRPr/>
          </a:p>
          <a:p>
            <a:pPr indent="0" lvl="0" marL="0" rtl="0" algn="l">
              <a:spcBef>
                <a:spcPts val="800"/>
              </a:spcBef>
              <a:spcAft>
                <a:spcPts val="0"/>
              </a:spcAft>
              <a:buNone/>
            </a:pPr>
            <a:r>
              <a:t/>
            </a:r>
            <a:endParaRPr/>
          </a:p>
        </p:txBody>
      </p:sp>
      <p:sp>
        <p:nvSpPr>
          <p:cNvPr id="773" name="Google Shape;773;p103"/>
          <p:cNvSpPr txBox="1"/>
          <p:nvPr/>
        </p:nvSpPr>
        <p:spPr>
          <a:xfrm>
            <a:off x="6249575" y="2116575"/>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reading (OS/WF)</a:t>
            </a:r>
            <a:endParaRPr sz="2100">
              <a:solidFill>
                <a:schemeClr val="dk1"/>
              </a:solidFill>
              <a:latin typeface="Corbel"/>
              <a:ea typeface="Corbel"/>
              <a:cs typeface="Corbel"/>
              <a:sym typeface="Corbel"/>
            </a:endParaRPr>
          </a:p>
        </p:txBody>
      </p:sp>
      <p:cxnSp>
        <p:nvCxnSpPr>
          <p:cNvPr id="774" name="Google Shape;774;p103"/>
          <p:cNvCxnSpPr/>
          <p:nvPr/>
        </p:nvCxnSpPr>
        <p:spPr>
          <a:xfrm flipH="1">
            <a:off x="2849275" y="2348725"/>
            <a:ext cx="3391200" cy="364200"/>
          </a:xfrm>
          <a:prstGeom prst="straightConnector1">
            <a:avLst/>
          </a:prstGeom>
          <a:noFill/>
          <a:ln cap="flat" cmpd="sng" w="28575">
            <a:solidFill>
              <a:schemeClr val="dk2"/>
            </a:solidFill>
            <a:prstDash val="solid"/>
            <a:round/>
            <a:headEnd len="med" w="med" type="none"/>
            <a:tailEnd len="med" w="med" type="triangle"/>
          </a:ln>
        </p:spPr>
      </p:cxnSp>
      <p:sp>
        <p:nvSpPr>
          <p:cNvPr id="775" name="Google Shape;775;p103"/>
          <p:cNvSpPr txBox="1"/>
          <p:nvPr/>
        </p:nvSpPr>
        <p:spPr>
          <a:xfrm>
            <a:off x="6249575" y="2783325"/>
            <a:ext cx="2112000" cy="6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writing (WF)</a:t>
            </a:r>
            <a:endParaRPr sz="2100">
              <a:solidFill>
                <a:schemeClr val="dk1"/>
              </a:solidFill>
              <a:latin typeface="Corbel"/>
              <a:ea typeface="Corbel"/>
              <a:cs typeface="Corbel"/>
              <a:sym typeface="Corbel"/>
            </a:endParaRPr>
          </a:p>
        </p:txBody>
      </p:sp>
      <p:cxnSp>
        <p:nvCxnSpPr>
          <p:cNvPr id="776" name="Google Shape;776;p103"/>
          <p:cNvCxnSpPr/>
          <p:nvPr/>
        </p:nvCxnSpPr>
        <p:spPr>
          <a:xfrm flipH="1">
            <a:off x="2885950" y="3045125"/>
            <a:ext cx="3413700" cy="82200"/>
          </a:xfrm>
          <a:prstGeom prst="straightConnector1">
            <a:avLst/>
          </a:prstGeom>
          <a:noFill/>
          <a:ln cap="flat" cmpd="sng" w="28575">
            <a:solidFill>
              <a:schemeClr val="dk2"/>
            </a:solidFill>
            <a:prstDash val="solid"/>
            <a:round/>
            <a:headEnd len="med" w="med" type="none"/>
            <a:tailEnd len="med" w="med" type="triangle"/>
          </a:ln>
        </p:spPr>
      </p:cxnSp>
      <p:cxnSp>
        <p:nvCxnSpPr>
          <p:cNvPr id="777" name="Google Shape;777;p103"/>
          <p:cNvCxnSpPr/>
          <p:nvPr/>
        </p:nvCxnSpPr>
        <p:spPr>
          <a:xfrm flipH="1">
            <a:off x="4975950" y="3486650"/>
            <a:ext cx="1341900" cy="300"/>
          </a:xfrm>
          <a:prstGeom prst="straightConnector1">
            <a:avLst/>
          </a:prstGeom>
          <a:noFill/>
          <a:ln cap="flat" cmpd="sng" w="28575">
            <a:solidFill>
              <a:schemeClr val="dk2"/>
            </a:solidFill>
            <a:prstDash val="solid"/>
            <a:round/>
            <a:headEnd len="med" w="med" type="none"/>
            <a:tailEnd len="med" w="med" type="triangle"/>
          </a:ln>
        </p:spPr>
      </p:cxnSp>
      <p:sp>
        <p:nvSpPr>
          <p:cNvPr id="778" name="Google Shape;778;p103"/>
          <p:cNvSpPr txBox="1"/>
          <p:nvPr/>
        </p:nvSpPr>
        <p:spPr>
          <a:xfrm>
            <a:off x="6299650" y="3215750"/>
            <a:ext cx="2457900" cy="7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File writing (OS)</a:t>
            </a:r>
            <a:endParaRPr sz="2100">
              <a:solidFill>
                <a:schemeClr val="dk1"/>
              </a:solidFill>
              <a:latin typeface="Corbel"/>
              <a:ea typeface="Corbel"/>
              <a:cs typeface="Corbel"/>
              <a:sym typeface="Corbel"/>
            </a:endParaRPr>
          </a:p>
        </p:txBody>
      </p:sp>
      <p:cxnSp>
        <p:nvCxnSpPr>
          <p:cNvPr id="779" name="Google Shape;779;p103"/>
          <p:cNvCxnSpPr/>
          <p:nvPr/>
        </p:nvCxnSpPr>
        <p:spPr>
          <a:xfrm flipH="1">
            <a:off x="4082975" y="3042400"/>
            <a:ext cx="2210400" cy="8631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85" name="Google Shape;785;p10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786" name="Google Shape;786;p104"/>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0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92" name="Google Shape;792;p10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793" name="Google Shape;793;p105"/>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rPr lang="pt-PT"/>
                        <a:t>Read/Write</a:t>
                      </a:r>
                      <a:endParaRPr/>
                    </a:p>
                  </a:txBody>
                  <a:tcPr marT="91425" marB="91425" marR="91425" marL="91425"/>
                </a:tc>
                <a:tc>
                  <a:txBody>
                    <a:bodyPr/>
                    <a:lstStyle/>
                    <a:p>
                      <a:pPr indent="0" lvl="0" marL="0" rtl="0" algn="l">
                        <a:spcBef>
                          <a:spcPts val="0"/>
                        </a:spcBef>
                        <a:spcAft>
                          <a:spcPts val="0"/>
                        </a:spcAft>
                        <a:buNone/>
                      </a:pPr>
                      <a:r>
                        <a:rPr lang="pt-PT">
                          <a:solidFill>
                            <a:schemeClr val="dk1"/>
                          </a:solidFill>
                        </a:rPr>
                        <a:t>Read/Write</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10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799" name="Google Shape;799;p10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800" name="Google Shape;800;p106"/>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rPr lang="pt-PT"/>
                        <a:t>Read/Write</a:t>
                      </a:r>
                      <a:endParaRPr/>
                    </a:p>
                  </a:txBody>
                  <a:tcPr marT="91425" marB="91425" marR="91425" marL="91425"/>
                </a:tc>
                <a:tc>
                  <a:txBody>
                    <a:bodyPr/>
                    <a:lstStyle/>
                    <a:p>
                      <a:pPr indent="0" lvl="0" marL="0" rtl="0" algn="l">
                        <a:spcBef>
                          <a:spcPts val="0"/>
                        </a:spcBef>
                        <a:spcAft>
                          <a:spcPts val="0"/>
                        </a:spcAft>
                        <a:buNone/>
                      </a:pPr>
                      <a:r>
                        <a:rPr lang="pt-PT">
                          <a:solidFill>
                            <a:schemeClr val="dk1"/>
                          </a:solidFill>
                        </a:rPr>
                        <a:t>Read/Write</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801" name="Google Shape;801;p106"/>
          <p:cNvSpPr txBox="1"/>
          <p:nvPr/>
        </p:nvSpPr>
        <p:spPr>
          <a:xfrm>
            <a:off x="5316475" y="1678500"/>
            <a:ext cx="3504900" cy="2608200"/>
          </a:xfrm>
          <a:prstGeom prst="rect">
            <a:avLst/>
          </a:prstGeom>
          <a:solidFill>
            <a:srgbClr val="AAAAAA"/>
          </a:solid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Clr>
                <a:schemeClr val="dk1"/>
              </a:buClr>
              <a:buSzPts val="1100"/>
              <a:buFont typeface="Arial"/>
              <a:buNone/>
            </a:pPr>
            <a:r>
              <a:rPr lang="pt-PT" sz="2100">
                <a:solidFill>
                  <a:schemeClr val="dk1"/>
                </a:solidFill>
                <a:latin typeface="Corbel"/>
                <a:ea typeface="Corbel"/>
                <a:cs typeface="Corbel"/>
                <a:sym typeface="Corbel"/>
              </a:rPr>
              <a:t>The adversary’s goals:</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Clr>
                <a:schemeClr val="dk1"/>
              </a:buClr>
              <a:buSzPts val="1100"/>
              <a:buFont typeface="Arial"/>
              <a:buNone/>
            </a:pPr>
            <a:r>
              <a:rPr lang="pt-PT" sz="2100">
                <a:solidFill>
                  <a:schemeClr val="dk1"/>
                </a:solidFill>
                <a:latin typeface="Corbel"/>
                <a:ea typeface="Corbel"/>
                <a:cs typeface="Corbel"/>
                <a:sym typeface="Corbel"/>
              </a:rPr>
              <a:t>(+) Secret exfiltration</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Clr>
                <a:schemeClr val="dk1"/>
              </a:buClr>
              <a:buSzPts val="1100"/>
              <a:buFont typeface="Arial"/>
              <a:buNone/>
            </a:pPr>
            <a:r>
              <a:rPr lang="pt-PT" sz="2100">
                <a:solidFill>
                  <a:schemeClr val="dk1"/>
                </a:solidFill>
                <a:latin typeface="Corbel"/>
                <a:ea typeface="Corbel"/>
                <a:cs typeface="Corbel"/>
                <a:sym typeface="Corbel"/>
              </a:rPr>
              <a:t>(+) Artifact tampering</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Clr>
                <a:schemeClr val="dk1"/>
              </a:buClr>
              <a:buSzPts val="1100"/>
              <a:buFont typeface="Arial"/>
              <a:buNone/>
            </a:pPr>
            <a:r>
              <a:rPr lang="pt-PT" sz="2100">
                <a:solidFill>
                  <a:schemeClr val="dk1"/>
                </a:solidFill>
                <a:latin typeface="Corbel"/>
                <a:ea typeface="Corbel"/>
                <a:cs typeface="Corbel"/>
                <a:sym typeface="Corbel"/>
              </a:rPr>
              <a:t>(+) Persistent changes to the environment</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Clr>
                <a:schemeClr val="dk1"/>
              </a:buClr>
              <a:buSzPts val="1100"/>
              <a:buFont typeface="Arial"/>
              <a:buNone/>
            </a:pPr>
            <a:r>
              <a:rPr lang="pt-PT" sz="2100">
                <a:solidFill>
                  <a:schemeClr val="dk1"/>
                </a:solidFill>
                <a:latin typeface="Corbel"/>
                <a:ea typeface="Corbel"/>
                <a:cs typeface="Corbel"/>
                <a:sym typeface="Corbel"/>
              </a:rPr>
              <a:t>(+) Disruption of other workflows</a:t>
            </a:r>
            <a:endParaRPr sz="2100">
              <a:solidFill>
                <a:schemeClr val="dk1"/>
              </a:solidFill>
              <a:latin typeface="Corbel"/>
              <a:ea typeface="Corbel"/>
              <a:cs typeface="Corbel"/>
              <a:sym typeface="Corbe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0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807" name="Google Shape;807;p10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808" name="Google Shape;808;p107"/>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rPr lang="pt-PT"/>
                        <a:t>Read/Write</a:t>
                      </a:r>
                      <a:endParaRPr/>
                    </a:p>
                  </a:txBody>
                  <a:tcPr marT="91425" marB="91425" marR="91425" marL="91425"/>
                </a:tc>
                <a:tc>
                  <a:txBody>
                    <a:bodyPr/>
                    <a:lstStyle/>
                    <a:p>
                      <a:pPr indent="0" lvl="0" marL="0" rtl="0" algn="l">
                        <a:spcBef>
                          <a:spcPts val="0"/>
                        </a:spcBef>
                        <a:spcAft>
                          <a:spcPts val="0"/>
                        </a:spcAft>
                        <a:buNone/>
                      </a:pPr>
                      <a:r>
                        <a:rPr lang="pt-PT">
                          <a:solidFill>
                            <a:schemeClr val="dk1"/>
                          </a:solidFill>
                        </a:rPr>
                        <a:t>Read/Write</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0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814" name="Google Shape;814;p10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815" name="Google Shape;815;p108"/>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rPr lang="pt-PT"/>
                        <a:t>Read/Write</a:t>
                      </a:r>
                      <a:endParaRPr/>
                    </a:p>
                  </a:txBody>
                  <a:tcPr marT="91425" marB="91425" marR="91425" marL="91425"/>
                </a:tc>
                <a:tc>
                  <a:txBody>
                    <a:bodyPr/>
                    <a:lstStyle/>
                    <a:p>
                      <a:pPr indent="0" lvl="0" marL="0" rtl="0" algn="l">
                        <a:spcBef>
                          <a:spcPts val="0"/>
                        </a:spcBef>
                        <a:spcAft>
                          <a:spcPts val="0"/>
                        </a:spcAft>
                        <a:buNone/>
                      </a:pPr>
                      <a:r>
                        <a:rPr lang="pt-PT">
                          <a:solidFill>
                            <a:schemeClr val="dk1"/>
                          </a:solidFill>
                        </a:rPr>
                        <a:t>Read/Write</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bl>
          </a:graphicData>
        </a:graphic>
      </p:graphicFrame>
      <p:sp>
        <p:nvSpPr>
          <p:cNvPr id="816" name="Google Shape;816;p108"/>
          <p:cNvSpPr txBox="1"/>
          <p:nvPr/>
        </p:nvSpPr>
        <p:spPr>
          <a:xfrm>
            <a:off x="4533025" y="3667425"/>
            <a:ext cx="3626400" cy="7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Possible to not include these files in the configuration!</a:t>
            </a:r>
            <a:endParaRPr sz="2100">
              <a:solidFill>
                <a:schemeClr val="dk1"/>
              </a:solidFill>
              <a:latin typeface="Corbel"/>
              <a:ea typeface="Corbel"/>
              <a:cs typeface="Corbel"/>
              <a:sym typeface="Corbel"/>
            </a:endParaRPr>
          </a:p>
        </p:txBody>
      </p:sp>
      <p:cxnSp>
        <p:nvCxnSpPr>
          <p:cNvPr id="817" name="Google Shape;817;p108"/>
          <p:cNvCxnSpPr/>
          <p:nvPr/>
        </p:nvCxnSpPr>
        <p:spPr>
          <a:xfrm rot="10800000">
            <a:off x="4136600" y="2861125"/>
            <a:ext cx="656100" cy="888300"/>
          </a:xfrm>
          <a:prstGeom prst="straightConnector1">
            <a:avLst/>
          </a:prstGeom>
          <a:noFill/>
          <a:ln cap="flat" cmpd="sng" w="9525">
            <a:solidFill>
              <a:schemeClr val="dk2"/>
            </a:solidFill>
            <a:prstDash val="solid"/>
            <a:round/>
            <a:headEnd len="med" w="med" type="none"/>
            <a:tailEnd len="med" w="med" type="triangle"/>
          </a:ln>
        </p:spPr>
      </p:cxnSp>
      <p:cxnSp>
        <p:nvCxnSpPr>
          <p:cNvPr id="818" name="Google Shape;818;p108"/>
          <p:cNvCxnSpPr>
            <a:stCxn id="816" idx="1"/>
          </p:cNvCxnSpPr>
          <p:nvPr/>
        </p:nvCxnSpPr>
        <p:spPr>
          <a:xfrm rot="10800000">
            <a:off x="4036525" y="3330225"/>
            <a:ext cx="496500" cy="694800"/>
          </a:xfrm>
          <a:prstGeom prst="straightConnector1">
            <a:avLst/>
          </a:prstGeom>
          <a:noFill/>
          <a:ln cap="flat" cmpd="sng" w="9525">
            <a:solidFill>
              <a:schemeClr val="dk2"/>
            </a:solidFill>
            <a:prstDash val="solid"/>
            <a:round/>
            <a:headEnd len="med" w="med" type="none"/>
            <a:tailEnd len="med" w="med" type="triangle"/>
          </a:ln>
        </p:spPr>
      </p:cxnSp>
      <p:cxnSp>
        <p:nvCxnSpPr>
          <p:cNvPr id="819" name="Google Shape;819;p108"/>
          <p:cNvCxnSpPr/>
          <p:nvPr/>
        </p:nvCxnSpPr>
        <p:spPr>
          <a:xfrm flipH="1" rot="10800000">
            <a:off x="5421400" y="2883850"/>
            <a:ext cx="396300" cy="687900"/>
          </a:xfrm>
          <a:prstGeom prst="straightConnector1">
            <a:avLst/>
          </a:prstGeom>
          <a:noFill/>
          <a:ln cap="flat" cmpd="sng" w="9525">
            <a:solidFill>
              <a:schemeClr val="dk2"/>
            </a:solidFill>
            <a:prstDash val="solid"/>
            <a:round/>
            <a:headEnd len="med" w="med" type="none"/>
            <a:tailEnd len="med" w="med" type="triangle"/>
          </a:ln>
        </p:spPr>
      </p:cxnSp>
      <p:cxnSp>
        <p:nvCxnSpPr>
          <p:cNvPr id="820" name="Google Shape;820;p108"/>
          <p:cNvCxnSpPr/>
          <p:nvPr/>
        </p:nvCxnSpPr>
        <p:spPr>
          <a:xfrm flipH="1" rot="10800000">
            <a:off x="5931650" y="3325775"/>
            <a:ext cx="59100" cy="346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0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Results – Isolation</a:t>
            </a:r>
            <a:endParaRPr/>
          </a:p>
        </p:txBody>
      </p:sp>
      <p:sp>
        <p:nvSpPr>
          <p:cNvPr id="826" name="Google Shape;826;p10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graphicFrame>
        <p:nvGraphicFramePr>
          <p:cNvPr id="827" name="Google Shape;827;p109"/>
          <p:cNvGraphicFramePr/>
          <p:nvPr/>
        </p:nvGraphicFramePr>
        <p:xfrm>
          <a:off x="952500" y="1809750"/>
          <a:ext cx="3000000" cy="3000000"/>
        </p:xfrm>
        <a:graphic>
          <a:graphicData uri="http://schemas.openxmlformats.org/drawingml/2006/table">
            <a:tbl>
              <a:tblPr>
                <a:noFill/>
                <a:tableStyleId>{3F422AF6-6948-47BE-83DB-EB5E14C94816}</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pt-PT"/>
                        <a:t>Workflow Files</a:t>
                      </a:r>
                      <a:endParaRPr/>
                    </a:p>
                  </a:txBody>
                  <a:tcPr marT="91425" marB="91425" marR="91425" marL="91425"/>
                </a:tc>
                <a:tc>
                  <a:txBody>
                    <a:bodyPr/>
                    <a:lstStyle/>
                    <a:p>
                      <a:pPr indent="0" lvl="0" marL="0" rtl="0" algn="l">
                        <a:spcBef>
                          <a:spcPts val="0"/>
                        </a:spcBef>
                        <a:spcAft>
                          <a:spcPts val="0"/>
                        </a:spcAft>
                        <a:buNone/>
                      </a:pPr>
                      <a:r>
                        <a:rPr lang="pt-PT"/>
                        <a:t>System Files</a:t>
                      </a:r>
                      <a:endParaRPr/>
                    </a:p>
                  </a:txBody>
                  <a:tcPr marT="91425" marB="91425" marR="91425" marL="91425"/>
                </a:tc>
              </a:tr>
              <a:tr h="381000">
                <a:tc>
                  <a:txBody>
                    <a:bodyPr/>
                    <a:lstStyle/>
                    <a:p>
                      <a:pPr indent="0" lvl="0" marL="0" rtl="0" algn="l">
                        <a:spcBef>
                          <a:spcPts val="0"/>
                        </a:spcBef>
                        <a:spcAft>
                          <a:spcPts val="0"/>
                        </a:spcAft>
                        <a:buNone/>
                      </a:pPr>
                      <a:r>
                        <a:rPr lang="pt-PT"/>
                        <a:t>No Isolation</a:t>
                      </a:r>
                      <a:endParaRPr/>
                    </a:p>
                  </a:txBody>
                  <a:tcPr marT="91425" marB="91425" marR="91425" marL="91425"/>
                </a:tc>
                <a:tc>
                  <a:txBody>
                    <a:bodyPr/>
                    <a:lstStyle/>
                    <a:p>
                      <a:pPr indent="0" lvl="0" marL="0" rtl="0" algn="l">
                        <a:spcBef>
                          <a:spcPts val="0"/>
                        </a:spcBef>
                        <a:spcAft>
                          <a:spcPts val="0"/>
                        </a:spcAft>
                        <a:buNone/>
                      </a:pPr>
                      <a:r>
                        <a:rPr lang="pt-PT"/>
                        <a:t>Read/Write</a:t>
                      </a:r>
                      <a:endParaRPr/>
                    </a:p>
                  </a:txBody>
                  <a:tcPr marT="91425" marB="91425" marR="91425" marL="91425"/>
                </a:tc>
                <a:tc>
                  <a:txBody>
                    <a:bodyPr/>
                    <a:lstStyle/>
                    <a:p>
                      <a:pPr indent="0" lvl="0" marL="0" rtl="0" algn="l">
                        <a:spcBef>
                          <a:spcPts val="0"/>
                        </a:spcBef>
                        <a:spcAft>
                          <a:spcPts val="0"/>
                        </a:spcAft>
                        <a:buNone/>
                      </a:pPr>
                      <a:r>
                        <a:rPr lang="pt-PT">
                          <a:solidFill>
                            <a:schemeClr val="dk1"/>
                          </a:solidFill>
                        </a:rPr>
                        <a:t>Read/Write</a:t>
                      </a:r>
                      <a:endParaRPr/>
                    </a:p>
                  </a:txBody>
                  <a:tcPr marT="91425" marB="91425" marR="91425" marL="91425"/>
                </a:tc>
              </a:tr>
              <a:tr h="381000">
                <a:tc>
                  <a:txBody>
                    <a:bodyPr/>
                    <a:lstStyle/>
                    <a:p>
                      <a:pPr indent="0" lvl="0" marL="0" rtl="0" algn="l">
                        <a:spcBef>
                          <a:spcPts val="0"/>
                        </a:spcBef>
                        <a:spcAft>
                          <a:spcPts val="0"/>
                        </a:spcAft>
                        <a:buNone/>
                      </a:pPr>
                      <a:r>
                        <a:rPr lang="pt-PT"/>
                        <a:t>Reuse Mode</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r h="381000">
                <a:tc>
                  <a:txBody>
                    <a:bodyPr/>
                    <a:lstStyle/>
                    <a:p>
                      <a:pPr indent="0" lvl="0" marL="0" rtl="0" algn="l">
                        <a:spcBef>
                          <a:spcPts val="0"/>
                        </a:spcBef>
                        <a:spcAft>
                          <a:spcPts val="0"/>
                        </a:spcAft>
                        <a:buNone/>
                      </a:pPr>
                      <a:r>
                        <a:rPr lang="pt-PT"/>
                        <a:t>Full Isolation</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c>
                  <a:txBody>
                    <a:bodyPr/>
                    <a:lstStyle/>
                    <a:p>
                      <a:pPr indent="0" lvl="0" marL="0" rtl="0" algn="l">
                        <a:spcBef>
                          <a:spcPts val="0"/>
                        </a:spcBef>
                        <a:spcAft>
                          <a:spcPts val="0"/>
                        </a:spcAft>
                        <a:buNone/>
                      </a:pPr>
                      <a:r>
                        <a:rPr lang="pt-PT"/>
                        <a:t>Read *</a:t>
                      </a:r>
                      <a:endParaRPr/>
                    </a:p>
                  </a:txBody>
                  <a:tcPr marT="91425" marB="91425" marR="91425" marL="91425"/>
                </a:tc>
              </a:tr>
            </a:tbl>
          </a:graphicData>
        </a:graphic>
      </p:graphicFrame>
      <p:sp>
        <p:nvSpPr>
          <p:cNvPr id="828" name="Google Shape;828;p109"/>
          <p:cNvSpPr txBox="1"/>
          <p:nvPr/>
        </p:nvSpPr>
        <p:spPr>
          <a:xfrm>
            <a:off x="4533025" y="3667425"/>
            <a:ext cx="3626400" cy="7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PT" sz="2100">
                <a:solidFill>
                  <a:schemeClr val="dk1"/>
                </a:solidFill>
                <a:latin typeface="Corbel"/>
                <a:ea typeface="Corbel"/>
                <a:cs typeface="Corbel"/>
                <a:sym typeface="Corbel"/>
              </a:rPr>
              <a:t>Possible to not include these files in the configuration!</a:t>
            </a:r>
            <a:endParaRPr sz="2100">
              <a:solidFill>
                <a:schemeClr val="dk1"/>
              </a:solidFill>
              <a:latin typeface="Corbel"/>
              <a:ea typeface="Corbel"/>
              <a:cs typeface="Corbel"/>
              <a:sym typeface="Corbel"/>
            </a:endParaRPr>
          </a:p>
        </p:txBody>
      </p:sp>
      <p:cxnSp>
        <p:nvCxnSpPr>
          <p:cNvPr id="829" name="Google Shape;829;p109"/>
          <p:cNvCxnSpPr/>
          <p:nvPr/>
        </p:nvCxnSpPr>
        <p:spPr>
          <a:xfrm rot="10800000">
            <a:off x="4136600" y="2861125"/>
            <a:ext cx="656100" cy="888300"/>
          </a:xfrm>
          <a:prstGeom prst="straightConnector1">
            <a:avLst/>
          </a:prstGeom>
          <a:noFill/>
          <a:ln cap="flat" cmpd="sng" w="9525">
            <a:solidFill>
              <a:schemeClr val="dk2"/>
            </a:solidFill>
            <a:prstDash val="solid"/>
            <a:round/>
            <a:headEnd len="med" w="med" type="none"/>
            <a:tailEnd len="med" w="med" type="triangle"/>
          </a:ln>
        </p:spPr>
      </p:cxnSp>
      <p:cxnSp>
        <p:nvCxnSpPr>
          <p:cNvPr id="830" name="Google Shape;830;p109"/>
          <p:cNvCxnSpPr>
            <a:stCxn id="828" idx="1"/>
          </p:cNvCxnSpPr>
          <p:nvPr/>
        </p:nvCxnSpPr>
        <p:spPr>
          <a:xfrm rot="10800000">
            <a:off x="4036525" y="3330225"/>
            <a:ext cx="496500" cy="694800"/>
          </a:xfrm>
          <a:prstGeom prst="straightConnector1">
            <a:avLst/>
          </a:prstGeom>
          <a:noFill/>
          <a:ln cap="flat" cmpd="sng" w="9525">
            <a:solidFill>
              <a:schemeClr val="dk2"/>
            </a:solidFill>
            <a:prstDash val="solid"/>
            <a:round/>
            <a:headEnd len="med" w="med" type="none"/>
            <a:tailEnd len="med" w="med" type="triangle"/>
          </a:ln>
        </p:spPr>
      </p:cxnSp>
      <p:cxnSp>
        <p:nvCxnSpPr>
          <p:cNvPr id="831" name="Google Shape;831;p109"/>
          <p:cNvCxnSpPr/>
          <p:nvPr/>
        </p:nvCxnSpPr>
        <p:spPr>
          <a:xfrm flipH="1" rot="10800000">
            <a:off x="5421400" y="2883850"/>
            <a:ext cx="396300" cy="687900"/>
          </a:xfrm>
          <a:prstGeom prst="straightConnector1">
            <a:avLst/>
          </a:prstGeom>
          <a:noFill/>
          <a:ln cap="flat" cmpd="sng" w="9525">
            <a:solidFill>
              <a:schemeClr val="dk2"/>
            </a:solidFill>
            <a:prstDash val="solid"/>
            <a:round/>
            <a:headEnd len="med" w="med" type="none"/>
            <a:tailEnd len="med" w="med" type="triangle"/>
          </a:ln>
        </p:spPr>
      </p:cxnSp>
      <p:cxnSp>
        <p:nvCxnSpPr>
          <p:cNvPr id="832" name="Google Shape;832;p109"/>
          <p:cNvCxnSpPr/>
          <p:nvPr/>
        </p:nvCxnSpPr>
        <p:spPr>
          <a:xfrm flipH="1" rot="10800000">
            <a:off x="5931650" y="3325775"/>
            <a:ext cx="59100" cy="346200"/>
          </a:xfrm>
          <a:prstGeom prst="straightConnector1">
            <a:avLst/>
          </a:prstGeom>
          <a:noFill/>
          <a:ln cap="flat" cmpd="sng" w="9525">
            <a:solidFill>
              <a:schemeClr val="dk2"/>
            </a:solidFill>
            <a:prstDash val="solid"/>
            <a:round/>
            <a:headEnd len="med" w="med" type="none"/>
            <a:tailEnd len="med" w="med" type="triangle"/>
          </a:ln>
        </p:spPr>
      </p:cxnSp>
      <p:sp>
        <p:nvSpPr>
          <p:cNvPr id="833" name="Google Shape;833;p109"/>
          <p:cNvSpPr txBox="1"/>
          <p:nvPr/>
        </p:nvSpPr>
        <p:spPr>
          <a:xfrm>
            <a:off x="5316475" y="1678500"/>
            <a:ext cx="3504900" cy="2608200"/>
          </a:xfrm>
          <a:prstGeom prst="rect">
            <a:avLst/>
          </a:prstGeom>
          <a:solidFill>
            <a:srgbClr val="AAAAAA"/>
          </a:solidFill>
          <a:ln>
            <a:noFill/>
          </a:ln>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pt-PT" sz="2100">
                <a:solidFill>
                  <a:schemeClr val="dk1"/>
                </a:solidFill>
                <a:latin typeface="Corbel"/>
                <a:ea typeface="Corbel"/>
                <a:cs typeface="Corbel"/>
                <a:sym typeface="Corbel"/>
              </a:rPr>
              <a:t>The adversary’s goals:</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None/>
            </a:pPr>
            <a:r>
              <a:rPr lang="pt-PT" sz="2100">
                <a:solidFill>
                  <a:schemeClr val="dk1"/>
                </a:solidFill>
                <a:latin typeface="Corbel"/>
                <a:ea typeface="Corbel"/>
                <a:cs typeface="Corbel"/>
                <a:sym typeface="Corbel"/>
              </a:rPr>
              <a:t>(+/-) Secret exfiltration</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None/>
            </a:pPr>
            <a:r>
              <a:rPr lang="pt-PT" sz="2100">
                <a:solidFill>
                  <a:schemeClr val="dk1"/>
                </a:solidFill>
                <a:latin typeface="Corbel"/>
                <a:ea typeface="Corbel"/>
                <a:cs typeface="Corbel"/>
                <a:sym typeface="Corbel"/>
              </a:rPr>
              <a:t>(-) Artifact tampering</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None/>
            </a:pPr>
            <a:r>
              <a:rPr lang="pt-PT" sz="2100">
                <a:solidFill>
                  <a:schemeClr val="dk1"/>
                </a:solidFill>
                <a:latin typeface="Corbel"/>
                <a:ea typeface="Corbel"/>
                <a:cs typeface="Corbel"/>
                <a:sym typeface="Corbel"/>
              </a:rPr>
              <a:t>(-) Persistent changes to the environment</a:t>
            </a:r>
            <a:endParaRPr sz="2100">
              <a:solidFill>
                <a:schemeClr val="dk1"/>
              </a:solidFill>
              <a:latin typeface="Corbel"/>
              <a:ea typeface="Corbel"/>
              <a:cs typeface="Corbel"/>
              <a:sym typeface="Corbel"/>
            </a:endParaRPr>
          </a:p>
          <a:p>
            <a:pPr indent="0" lvl="0" marL="0" rtl="0" algn="l">
              <a:lnSpc>
                <a:spcPct val="90000"/>
              </a:lnSpc>
              <a:spcBef>
                <a:spcPts val="800"/>
              </a:spcBef>
              <a:spcAft>
                <a:spcPts val="0"/>
              </a:spcAft>
              <a:buNone/>
            </a:pPr>
            <a:r>
              <a:rPr lang="pt-PT" sz="2100">
                <a:solidFill>
                  <a:schemeClr val="dk1"/>
                </a:solidFill>
                <a:latin typeface="Corbel"/>
                <a:ea typeface="Corbel"/>
                <a:cs typeface="Corbel"/>
                <a:sym typeface="Corbel"/>
              </a:rPr>
              <a:t>(-) Disruption of other workflows</a:t>
            </a:r>
            <a:endParaRPr sz="2100">
              <a:solidFill>
                <a:schemeClr val="dk1"/>
              </a:solidFill>
              <a:latin typeface="Corbel"/>
              <a:ea typeface="Corbel"/>
              <a:cs typeface="Corbel"/>
              <a:sym typeface="Corbe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11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39" name="Google Shape;839;p11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1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45" name="Google Shape;845;p11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a:p>
            <a:pPr indent="0" lvl="0" marL="0" rtl="0" algn="l">
              <a:spcBef>
                <a:spcPts val="800"/>
              </a:spcBef>
              <a:spcAft>
                <a:spcPts val="0"/>
              </a:spcAft>
              <a:buNone/>
            </a:pPr>
            <a:r>
              <a:rPr lang="pt-PT"/>
              <a:t>     Does not show better isolation results in comparison to reuse</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1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51" name="Google Shape;851;p11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a:p>
            <a:pPr indent="0" lvl="0" marL="0" rtl="0" algn="l">
              <a:spcBef>
                <a:spcPts val="800"/>
              </a:spcBef>
              <a:spcAft>
                <a:spcPts val="0"/>
              </a:spcAft>
              <a:buNone/>
            </a:pPr>
            <a:r>
              <a:rPr lang="pt-PT"/>
              <a:t>     Does not show better isolation results in comparison to reuse</a:t>
            </a:r>
            <a:endParaRPr/>
          </a:p>
          <a:p>
            <a:pPr indent="0" lvl="0" marL="0" rtl="0" algn="l">
              <a:spcBef>
                <a:spcPts val="800"/>
              </a:spcBef>
              <a:spcAft>
                <a:spcPts val="0"/>
              </a:spcAft>
              <a:buNone/>
            </a:pPr>
            <a:r>
              <a:rPr lang="pt-PT"/>
              <a:t>     Why bother?</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11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57" name="Google Shape;857;p11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Reuse mode is similar (timing wise) to no isolation</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1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63" name="Google Shape;863;p11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Reuse mode is similar (timing wise) to no isolation</a:t>
            </a:r>
            <a:endParaRPr/>
          </a:p>
          <a:p>
            <a:pPr indent="0" lvl="0" marL="0" rtl="0" algn="l">
              <a:spcBef>
                <a:spcPts val="800"/>
              </a:spcBef>
              <a:spcAft>
                <a:spcPts val="0"/>
              </a:spcAft>
              <a:buNone/>
            </a:pPr>
            <a:r>
              <a:rPr lang="pt-PT"/>
              <a:t>     But much better in terms of isolation!</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11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What Does This Mean?</a:t>
            </a:r>
            <a:endParaRPr/>
          </a:p>
        </p:txBody>
      </p:sp>
      <p:sp>
        <p:nvSpPr>
          <p:cNvPr id="869" name="Google Shape;869;p11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Full Isolation is slow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Reuse mode is similar (timing wise) to no isolation</a:t>
            </a:r>
            <a:endParaRPr/>
          </a:p>
          <a:p>
            <a:pPr indent="0" lvl="0" marL="0" rtl="0" algn="l">
              <a:spcBef>
                <a:spcPts val="800"/>
              </a:spcBef>
              <a:spcAft>
                <a:spcPts val="0"/>
              </a:spcAft>
              <a:buNone/>
            </a:pPr>
            <a:r>
              <a:rPr lang="pt-PT"/>
              <a:t>     But much better in terms of isolation!</a:t>
            </a:r>
            <a:endParaRPr/>
          </a:p>
          <a:p>
            <a:pPr indent="0" lvl="0" marL="0" rtl="0" algn="l">
              <a:spcBef>
                <a:spcPts val="800"/>
              </a:spcBef>
              <a:spcAft>
                <a:spcPts val="0"/>
              </a:spcAft>
              <a:buNone/>
            </a:pPr>
            <a:r>
              <a:rPr lang="pt-PT"/>
              <a:t>     Why skip isolation then?</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1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875" name="Google Shape;875;p11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17"/>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881" name="Google Shape;881;p117"/>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p:txBody>
      </p:sp>
      <p:pic>
        <p:nvPicPr>
          <p:cNvPr id="882" name="Google Shape;882;p117"/>
          <p:cNvPicPr preferRelativeResize="0"/>
          <p:nvPr/>
        </p:nvPicPr>
        <p:blipFill>
          <a:blip r:embed="rId3">
            <a:alphaModFix/>
          </a:blip>
          <a:stretch>
            <a:fillRect/>
          </a:stretch>
        </p:blipFill>
        <p:spPr>
          <a:xfrm>
            <a:off x="5207275" y="2883600"/>
            <a:ext cx="3705325" cy="208272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18"/>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888" name="Google Shape;888;p118"/>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19"/>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894" name="Google Shape;894;p11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a:p>
            <a:pPr indent="0" lvl="0" marL="0" rtl="0" algn="l">
              <a:spcBef>
                <a:spcPts val="800"/>
              </a:spcBef>
              <a:spcAft>
                <a:spcPts val="0"/>
              </a:spcAft>
              <a:buNone/>
            </a:pPr>
            <a:r>
              <a:rPr lang="pt-PT"/>
              <a:t>      Better base workflow</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20"/>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900" name="Google Shape;900;p120"/>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a:p>
            <a:pPr indent="0" lvl="0" marL="0" rtl="0" algn="l">
              <a:spcBef>
                <a:spcPts val="800"/>
              </a:spcBef>
              <a:spcAft>
                <a:spcPts val="0"/>
              </a:spcAft>
              <a:buNone/>
            </a:pPr>
            <a:r>
              <a:rPr lang="pt-PT"/>
              <a:t>      Better base workflow</a:t>
            </a:r>
            <a:endParaRPr/>
          </a:p>
          <a:p>
            <a:pPr indent="0" lvl="0" marL="0" rtl="0" algn="l">
              <a:spcBef>
                <a:spcPts val="800"/>
              </a:spcBef>
              <a:spcAft>
                <a:spcPts val="0"/>
              </a:spcAft>
              <a:buNone/>
            </a:pPr>
            <a:r>
              <a:rPr lang="pt-PT"/>
              <a:t>      Better isolation testing</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21"/>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906" name="Google Shape;906;p121"/>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Automation</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22"/>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912" name="Google Shape;912;p12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Automation</a:t>
            </a:r>
            <a:endParaRPr/>
          </a:p>
          <a:p>
            <a:pPr indent="0" lvl="0" marL="0" rtl="0" algn="l">
              <a:spcBef>
                <a:spcPts val="800"/>
              </a:spcBef>
              <a:spcAft>
                <a:spcPts val="0"/>
              </a:spcAft>
              <a:buNone/>
            </a:pPr>
            <a:r>
              <a:rPr lang="pt-PT"/>
              <a:t>     Of image generation</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23"/>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So… What Now?</a:t>
            </a:r>
            <a:endParaRPr/>
          </a:p>
        </p:txBody>
      </p:sp>
      <p:sp>
        <p:nvSpPr>
          <p:cNvPr id="918" name="Google Shape;918;p12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1- Find best rotation time for image reuse </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2- More testing</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3- Automation</a:t>
            </a:r>
            <a:endParaRPr/>
          </a:p>
          <a:p>
            <a:pPr indent="0" lvl="0" marL="0" rtl="0" algn="l">
              <a:spcBef>
                <a:spcPts val="800"/>
              </a:spcBef>
              <a:spcAft>
                <a:spcPts val="0"/>
              </a:spcAft>
              <a:buNone/>
            </a:pPr>
            <a:r>
              <a:rPr lang="pt-PT"/>
              <a:t>     Of image generation</a:t>
            </a:r>
            <a:endParaRPr/>
          </a:p>
          <a:p>
            <a:pPr indent="0" lvl="0" marL="0" rtl="0" algn="l">
              <a:spcBef>
                <a:spcPts val="800"/>
              </a:spcBef>
              <a:spcAft>
                <a:spcPts val="0"/>
              </a:spcAft>
              <a:buNone/>
            </a:pPr>
            <a:r>
              <a:rPr lang="pt-PT"/>
              <a:t>     Of workflow isolation</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24"/>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Concluding….</a:t>
            </a:r>
            <a:endParaRPr/>
          </a:p>
        </p:txBody>
      </p:sp>
      <p:sp>
        <p:nvSpPr>
          <p:cNvPr id="924" name="Google Shape;924;p12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CI/CD has MANY problems</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25"/>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Concluding….</a:t>
            </a:r>
            <a:endParaRPr/>
          </a:p>
        </p:txBody>
      </p:sp>
      <p:sp>
        <p:nvSpPr>
          <p:cNvPr id="930" name="Google Shape;930;p125"/>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CI/CD has MANY problems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But (forced) isolation can be a solution!</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26"/>
          <p:cNvSpPr txBox="1"/>
          <p:nvPr>
            <p:ph type="title"/>
          </p:nvPr>
        </p:nvSpPr>
        <p:spPr>
          <a:xfrm>
            <a:off x="628650" y="273845"/>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pt-PT"/>
              <a:t>Concluding….</a:t>
            </a:r>
            <a:endParaRPr/>
          </a:p>
        </p:txBody>
      </p:sp>
      <p:sp>
        <p:nvSpPr>
          <p:cNvPr id="936" name="Google Shape;936;p126"/>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pt-PT"/>
              <a:t>CI/CD has MANY problems</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But (forced) isolation can be a solution!</a:t>
            </a:r>
            <a:endParaRPr/>
          </a:p>
          <a:p>
            <a:pPr indent="0" lvl="0" marL="0" rtl="0" algn="l">
              <a:spcBef>
                <a:spcPts val="800"/>
              </a:spcBef>
              <a:spcAft>
                <a:spcPts val="0"/>
              </a:spcAft>
              <a:buNone/>
            </a:pPr>
            <a:r>
              <a:t/>
            </a:r>
            <a:endParaRPr/>
          </a:p>
          <a:p>
            <a:pPr indent="0" lvl="0" marL="0" rtl="0" algn="l">
              <a:spcBef>
                <a:spcPts val="800"/>
              </a:spcBef>
              <a:spcAft>
                <a:spcPts val="0"/>
              </a:spcAft>
              <a:buNone/>
            </a:pPr>
            <a:r>
              <a:rPr lang="pt-PT"/>
              <a:t>Our approach seems to be a good first step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27"/>
          <p:cNvSpPr txBox="1"/>
          <p:nvPr>
            <p:ph type="ctrTitle"/>
          </p:nvPr>
        </p:nvSpPr>
        <p:spPr>
          <a:xfrm>
            <a:off x="1143000" y="841772"/>
            <a:ext cx="6858000" cy="17907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rPr lang="pt-PT"/>
              <a:t>Thank you for your time!</a:t>
            </a:r>
            <a:endParaRPr/>
          </a:p>
        </p:txBody>
      </p:sp>
      <p:sp>
        <p:nvSpPr>
          <p:cNvPr id="942" name="Google Shape;942;p127"/>
          <p:cNvSpPr txBox="1"/>
          <p:nvPr>
            <p:ph idx="1" type="subTitle"/>
          </p:nvPr>
        </p:nvSpPr>
        <p:spPr>
          <a:xfrm>
            <a:off x="1143000" y="2701529"/>
            <a:ext cx="6858000" cy="1241700"/>
          </a:xfrm>
          <a:prstGeom prst="rect">
            <a:avLst/>
          </a:prstGeom>
        </p:spPr>
        <p:txBody>
          <a:bodyPr anchorCtr="0" anchor="t" bIns="34275" lIns="68575" spcFirstLastPara="1" rIns="68575" wrap="square" tIns="34275">
            <a:normAutofit lnSpcReduction="10000"/>
          </a:bodyPr>
          <a:lstStyle/>
          <a:p>
            <a:pPr indent="0" lvl="0" marL="0" rtl="0" algn="r">
              <a:spcBef>
                <a:spcPts val="800"/>
              </a:spcBef>
              <a:spcAft>
                <a:spcPts val="0"/>
              </a:spcAft>
              <a:buNone/>
            </a:pPr>
            <a:r>
              <a:t/>
            </a:r>
            <a:endParaRPr sz="1700"/>
          </a:p>
          <a:p>
            <a:pPr indent="0" lvl="0" marL="0" rtl="0" algn="r">
              <a:spcBef>
                <a:spcPts val="800"/>
              </a:spcBef>
              <a:spcAft>
                <a:spcPts val="0"/>
              </a:spcAft>
              <a:buClr>
                <a:schemeClr val="dk1"/>
              </a:buClr>
              <a:buSzPts val="1100"/>
              <a:buFont typeface="Arial"/>
              <a:buNone/>
            </a:pPr>
            <a:r>
              <a:rPr lang="pt-PT" sz="1700"/>
              <a:t>Grants no. 101139120 and no. 101179818</a:t>
            </a:r>
            <a:endParaRPr sz="1700"/>
          </a:p>
          <a:p>
            <a:pPr indent="0" lvl="0" marL="0" rtl="0" algn="r">
              <a:spcBef>
                <a:spcPts val="800"/>
              </a:spcBef>
              <a:spcAft>
                <a:spcPts val="0"/>
              </a:spcAft>
              <a:buClr>
                <a:schemeClr val="dk1"/>
              </a:buClr>
              <a:buSzPts val="1100"/>
              <a:buFont typeface="Arial"/>
              <a:buNone/>
            </a:pPr>
            <a:r>
              <a:rPr lang="pt-PT" sz="1700"/>
              <a:t>Corresponding author: sofiateixeiravaz@ua.pt</a:t>
            </a:r>
            <a:endParaRPr sz="1700"/>
          </a:p>
          <a:p>
            <a:pPr indent="0" lvl="0" marL="0" rtl="0" algn="l">
              <a:spcBef>
                <a:spcPts val="8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5Growth">
      <a:dk1>
        <a:srgbClr val="000000"/>
      </a:dk1>
      <a:lt1>
        <a:srgbClr val="FFFFFF"/>
      </a:lt1>
      <a:dk2>
        <a:srgbClr val="00092B"/>
      </a:dk2>
      <a:lt2>
        <a:srgbClr val="F2F2F2"/>
      </a:lt2>
      <a:accent1>
        <a:srgbClr val="4489EB"/>
      </a:accent1>
      <a:accent2>
        <a:srgbClr val="274F9A"/>
      </a:accent2>
      <a:accent3>
        <a:srgbClr val="091548"/>
      </a:accent3>
      <a:accent4>
        <a:srgbClr val="6DA140"/>
      </a:accent4>
      <a:accent5>
        <a:srgbClr val="FF794D"/>
      </a:accent5>
      <a:accent6>
        <a:srgbClr val="B55636"/>
      </a:accent6>
      <a:hlink>
        <a:srgbClr val="FF794D"/>
      </a:hlink>
      <a:folHlink>
        <a:srgbClr val="B5563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